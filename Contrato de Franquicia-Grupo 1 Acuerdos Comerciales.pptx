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865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680960" y="1417320"/>
            <a:ext cx="3611880" cy="3611880"/>
          </a:xfrm>
          <a:prstGeom prst="ellipse">
            <a:avLst/>
          </a:prstGeom>
          <a:noFill/>
          <a:ln w="13970">
            <a:solidFill>
              <a:srgbClr val="2C3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33488" y="4224528"/>
            <a:ext cx="694944" cy="694944"/>
          </a:xfrm>
          <a:prstGeom prst="ellipse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03720" y="1417320"/>
            <a:ext cx="9144" cy="3611880"/>
          </a:xfrm>
          <a:prstGeom prst="rect">
            <a:avLst/>
          </a:prstGeom>
          <a:solidFill>
            <a:srgbClr val="2C3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58521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00" dirty="0">
                <a:solidFill>
                  <a:srgbClr val="C56C3E"/>
                </a:solidFill>
                <a:latin typeface="Calibri"/>
              </a:rPr>
              <a:t>ACUERDOS COMERCIALES · GRUPO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6035040" cy="1461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dirty="0" err="1">
                <a:solidFill>
                  <a:srgbClr val="F3F1EC"/>
                </a:solidFill>
                <a:latin typeface="Georgia"/>
              </a:rPr>
              <a:t>Contrato</a:t>
            </a:r>
            <a:r>
              <a:rPr sz="4800" b="0" i="0" dirty="0">
                <a:solidFill>
                  <a:srgbClr val="F3F1EC"/>
                </a:solidFill>
                <a:latin typeface="Georgia"/>
              </a:rPr>
              <a:t> 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s-HN" sz="4800" dirty="0">
                <a:solidFill>
                  <a:srgbClr val="F3F1EC"/>
                </a:solidFill>
                <a:latin typeface="Georgia"/>
              </a:rPr>
              <a:t>F</a:t>
            </a:r>
            <a:r>
              <a:rPr sz="4800" b="0" i="0" dirty="0" err="1">
                <a:solidFill>
                  <a:srgbClr val="F3F1EC"/>
                </a:solidFill>
                <a:latin typeface="Georgia"/>
              </a:rPr>
              <a:t>ranquicia</a:t>
            </a:r>
            <a:endParaRPr sz="4800" b="0" i="0" dirty="0">
              <a:solidFill>
                <a:srgbClr val="F3F1EC"/>
              </a:solidFill>
              <a:latin typeface="Georgi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680" y="3438144"/>
            <a:ext cx="822960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9160" y="3675887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A9B4C6"/>
                </a:solidFill>
                <a:latin typeface="Calibri"/>
              </a:rPr>
              <a:t>Una figura de colaboración empresarial que organiza la expansión de una marca sin renunciar al control de su estándar.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047488"/>
            <a:ext cx="5577840" cy="7315"/>
          </a:xfrm>
          <a:prstGeom prst="rect">
            <a:avLst/>
          </a:prstGeom>
          <a:solidFill>
            <a:srgbClr val="2C3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248656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3F1EC"/>
                </a:solidFill>
                <a:latin typeface="Calibri"/>
              </a:rPr>
              <a:t>María Isabel Acosta · Xilena Blanco · María Daniela García · Fredy Valladares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0089" y="557784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A9B4C6"/>
                </a:solidFill>
                <a:latin typeface="Calibri"/>
              </a:rPr>
              <a:t>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 dirty="0">
                <a:solidFill>
                  <a:srgbClr val="8A94A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6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B2A41"/>
                </a:solidFill>
                <a:latin typeface="Georgia"/>
              </a:rPr>
              <a:t>Definición conceptual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8363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5570"/>
                </a:solidFill>
                <a:latin typeface="Calibri"/>
              </a:rPr>
              <a:t>Dos nociones que conviene no confundir: el modelo de negocio y el instrumento que lo ordena.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90735"/>
            <a:ext cx="5076428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011680"/>
            <a:ext cx="5076428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7864" y="2249424"/>
            <a:ext cx="44180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dirty="0">
                <a:solidFill>
                  <a:srgbClr val="1B2A41"/>
                </a:solidFill>
                <a:latin typeface="Georgia"/>
              </a:rPr>
              <a:t>La </a:t>
            </a:r>
            <a:r>
              <a:rPr sz="1700" b="0" i="0" dirty="0" err="1">
                <a:solidFill>
                  <a:srgbClr val="1B2A41"/>
                </a:solidFill>
                <a:latin typeface="Georgia"/>
              </a:rPr>
              <a:t>franquicia</a:t>
            </a:r>
            <a:endParaRPr sz="1700" b="0" i="0" dirty="0">
              <a:solidFill>
                <a:srgbClr val="1B2A41"/>
              </a:solidFill>
              <a:latin typeface="Georgi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7864" y="2596896"/>
            <a:ext cx="44180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445570"/>
                </a:solidFill>
                <a:latin typeface="Calibri"/>
              </a:rPr>
              <a:t>Modelo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negocio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mediante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cual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una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empresa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autoriza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a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otra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a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utilizar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su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marca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, sus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conocimientos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, sus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procedimientos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y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su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sistema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operación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para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desarrollar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una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actividad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comercial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" y="3328416"/>
            <a:ext cx="44180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 dirty="0">
                <a:solidFill>
                  <a:srgbClr val="C56C3E"/>
                </a:solidFill>
                <a:latin typeface="Calibri"/>
              </a:rPr>
              <a:t>LO QUE SE TRANSFIERE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3547872"/>
            <a:ext cx="44180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La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marca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: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nombre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comercial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logotipo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 e imagen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El know-how: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recetas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procesos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 y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manuales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validados</a:t>
            </a:r>
            <a:endParaRPr sz="1000" b="0" i="0" dirty="0">
              <a:solidFill>
                <a:srgbClr val="445570"/>
              </a:solidFill>
              <a:latin typeface="Calibr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El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sistema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: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diseño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atención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publicidad</a:t>
            </a:r>
            <a:r>
              <a:rPr sz="1000" b="0" i="0" dirty="0">
                <a:solidFill>
                  <a:srgbClr val="445570"/>
                </a:solidFill>
                <a:latin typeface="Calibri"/>
              </a:rPr>
              <a:t> y </a:t>
            </a:r>
            <a:r>
              <a:rPr sz="1000" b="0" i="0" dirty="0" err="1">
                <a:solidFill>
                  <a:srgbClr val="445570"/>
                </a:solidFill>
                <a:latin typeface="Calibri"/>
              </a:rPr>
              <a:t>estándares</a:t>
            </a:r>
            <a:endParaRPr sz="1000" b="0" i="0" dirty="0">
              <a:solidFill>
                <a:srgbClr val="44557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97864" y="4352544"/>
            <a:ext cx="44180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dirty="0">
                <a:solidFill>
                  <a:srgbClr val="1B2A41"/>
                </a:solidFill>
                <a:latin typeface="Calibri"/>
              </a:rPr>
              <a:t>En la </a:t>
            </a:r>
            <a:r>
              <a:rPr sz="1000" b="0" i="1" dirty="0" err="1">
                <a:solidFill>
                  <a:srgbClr val="1B2A41"/>
                </a:solidFill>
                <a:latin typeface="Calibri"/>
              </a:rPr>
              <a:t>práctica</a:t>
            </a:r>
            <a:r>
              <a:rPr sz="1000" b="0" i="1" dirty="0">
                <a:solidFill>
                  <a:srgbClr val="1B2A41"/>
                </a:solidFill>
                <a:latin typeface="Calibri"/>
              </a:rPr>
              <a:t>: </a:t>
            </a:r>
            <a:r>
              <a:rPr sz="1000" b="0" i="1" dirty="0" err="1">
                <a:solidFill>
                  <a:srgbClr val="1B2A41"/>
                </a:solidFill>
                <a:latin typeface="Calibri"/>
              </a:rPr>
              <a:t>distintos</a:t>
            </a:r>
            <a:r>
              <a:rPr sz="1000" b="0" i="1" dirty="0">
                <a:solidFill>
                  <a:srgbClr val="1B2A41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1B2A41"/>
                </a:solidFill>
                <a:latin typeface="Calibri"/>
              </a:rPr>
              <a:t>dueños</a:t>
            </a:r>
            <a:r>
              <a:rPr sz="1000" b="0" i="1" dirty="0">
                <a:solidFill>
                  <a:srgbClr val="1B2A41"/>
                </a:solidFill>
                <a:latin typeface="Calibri"/>
              </a:rPr>
              <a:t>, </a:t>
            </a:r>
            <a:r>
              <a:rPr sz="1000" b="0" i="1" dirty="0" err="1">
                <a:solidFill>
                  <a:srgbClr val="1B2A41"/>
                </a:solidFill>
                <a:latin typeface="Calibri"/>
              </a:rPr>
              <a:t>misma</a:t>
            </a:r>
            <a:r>
              <a:rPr sz="1000" b="0" i="1" dirty="0">
                <a:solidFill>
                  <a:srgbClr val="1B2A41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1B2A41"/>
                </a:solidFill>
                <a:latin typeface="Calibri"/>
              </a:rPr>
              <a:t>experiencia</a:t>
            </a:r>
            <a:r>
              <a:rPr sz="1000" b="0" i="1" dirty="0">
                <a:solidFill>
                  <a:srgbClr val="1B2A41"/>
                </a:solidFill>
                <a:latin typeface="Calibri"/>
              </a:rPr>
              <a:t> para </a:t>
            </a:r>
            <a:r>
              <a:rPr sz="1000" b="0" i="1" dirty="0" err="1">
                <a:solidFill>
                  <a:srgbClr val="1B2A41"/>
                </a:solidFill>
                <a:latin typeface="Calibri"/>
              </a:rPr>
              <a:t>el</a:t>
            </a:r>
            <a:r>
              <a:rPr sz="1000" b="0" i="1" dirty="0">
                <a:solidFill>
                  <a:srgbClr val="1B2A41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1B2A41"/>
                </a:solidFill>
                <a:latin typeface="Calibri"/>
              </a:rPr>
              <a:t>consumidor</a:t>
            </a:r>
            <a:r>
              <a:rPr sz="1000" b="0" i="1" dirty="0">
                <a:solidFill>
                  <a:srgbClr val="1B2A41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" y="4809744"/>
            <a:ext cx="44180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(Speicher Mendiola, 2024)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6860" y="2011680"/>
            <a:ext cx="5076428" cy="4005072"/>
          </a:xfrm>
          <a:prstGeom prst="rect">
            <a:avLst/>
          </a:prstGeom>
          <a:solidFill>
            <a:srgbClr val="F1EFEA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6860" y="2011680"/>
            <a:ext cx="5076428" cy="4114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76044" y="2249424"/>
            <a:ext cx="44180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El contrato de franquicia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6044" y="2596896"/>
            <a:ext cx="44180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445570"/>
                </a:solidFill>
                <a:latin typeface="Calibri"/>
              </a:rPr>
              <a:t>Instrumento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que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fija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las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condiciones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de la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relación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entre las partes: derechos,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obligaciones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responsabilidades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y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términos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bajo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los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cuales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se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desarrollará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 la </a:t>
            </a:r>
            <a:r>
              <a:rPr sz="1100" b="0" i="0" dirty="0" err="1">
                <a:solidFill>
                  <a:srgbClr val="445570"/>
                </a:solidFill>
                <a:latin typeface="Calibri"/>
              </a:rPr>
              <a:t>franquicia</a:t>
            </a:r>
            <a:r>
              <a:rPr sz="1100" b="0" i="0" dirty="0">
                <a:solidFill>
                  <a:srgbClr val="445570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6044" y="3328416"/>
            <a:ext cx="44180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RASGOS QUE LO DEFINEN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6044" y="3547872"/>
            <a:ext cx="44180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De colaboración, no de simple intercambio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De tracto sucesivo: se ejecuta de forma continuada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Contrato marco: regula la pertenencia a una red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Necesariamente incompleto, para poder adaptarse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6044" y="4809744"/>
            <a:ext cx="44180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(Apolo Apolo et al., 2022; Kim y Tiwana, 2022)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632704"/>
            <a:ext cx="2225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F1EC"/>
                </a:solidFill>
                <a:latin typeface="Calibri"/>
              </a:rPr>
              <a:t>Argentina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3144" y="5632704"/>
            <a:ext cx="2225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F1EC"/>
                </a:solidFill>
                <a:latin typeface="Calibri"/>
              </a:rPr>
              <a:t>Ecuador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497" y="5632704"/>
            <a:ext cx="2225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F1EC"/>
                </a:solidFill>
                <a:latin typeface="Calibri"/>
              </a:rPr>
              <a:t>Colombia y Perú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 dirty="0">
                <a:solidFill>
                  <a:srgbClr val="8A94A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6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B2A41"/>
                </a:solidFill>
                <a:latin typeface="Georgia"/>
              </a:rPr>
              <a:t>¿Cómo se aplica?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8363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5570"/>
                </a:solidFill>
                <a:latin typeface="Calibri"/>
              </a:rPr>
              <a:t>El ciclo que va del acuerdo entre dos partes a la operación cotidiana de una 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066543"/>
            <a:ext cx="1951933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066543"/>
            <a:ext cx="1951933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" y="2322576"/>
            <a:ext cx="14764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6C3E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852928"/>
            <a:ext cx="147644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Georgia"/>
              </a:rPr>
              <a:t>Selección del franquiciado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456432"/>
            <a:ext cx="147644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La elección del inversionista adecuado es determinante para el éxito del sistema (Calderón-Monge et al., 2021).</a:t>
            </a:r>
          </a:p>
        </p:txBody>
      </p:sp>
      <p:sp>
        <p:nvSpPr>
          <p:cNvPr id="14" name="Oval 13"/>
          <p:cNvSpPr/>
          <p:nvPr/>
        </p:nvSpPr>
        <p:spPr>
          <a:xfrm>
            <a:off x="2870905" y="3493008"/>
            <a:ext cx="73152" cy="73152"/>
          </a:xfrm>
          <a:prstGeom prst="ellipse">
            <a:avLst/>
          </a:prstGeom>
          <a:solidFill>
            <a:srgbClr val="DD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94349" y="2066543"/>
            <a:ext cx="1951933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94349" y="2066543"/>
            <a:ext cx="1951933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32093" y="2322576"/>
            <a:ext cx="14764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6C3E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2093" y="2852928"/>
            <a:ext cx="147644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Georgia"/>
              </a:rPr>
              <a:t>Formalización del acuerdo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2093" y="3456432"/>
            <a:ext cx="147644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445570"/>
                </a:solidFill>
                <a:latin typeface="Calibri"/>
              </a:rPr>
              <a:t>Se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firma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el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contrato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y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quedan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fijadas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las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condiciones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económicas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operativas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y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legales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de la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relación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.</a:t>
            </a:r>
          </a:p>
        </p:txBody>
      </p:sp>
      <p:sp>
        <p:nvSpPr>
          <p:cNvPr id="20" name="Oval 19"/>
          <p:cNvSpPr/>
          <p:nvPr/>
        </p:nvSpPr>
        <p:spPr>
          <a:xfrm>
            <a:off x="4996574" y="3493008"/>
            <a:ext cx="73152" cy="73152"/>
          </a:xfrm>
          <a:prstGeom prst="ellipse">
            <a:avLst/>
          </a:prstGeom>
          <a:solidFill>
            <a:srgbClr val="DD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018" y="2066543"/>
            <a:ext cx="1951933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0018" y="2066543"/>
            <a:ext cx="1951933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57762" y="2322576"/>
            <a:ext cx="14764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6C3E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7762" y="2852928"/>
            <a:ext cx="147644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Georgia"/>
              </a:rPr>
              <a:t>Transferencia y capacitación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7762" y="3456432"/>
            <a:ext cx="147644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Entrenamiento del propietario y del personal, manuales de operación, asesoría administrativa y apoyo en marketing.</a:t>
            </a:r>
          </a:p>
        </p:txBody>
      </p:sp>
      <p:sp>
        <p:nvSpPr>
          <p:cNvPr id="26" name="Oval 25"/>
          <p:cNvSpPr/>
          <p:nvPr/>
        </p:nvSpPr>
        <p:spPr>
          <a:xfrm>
            <a:off x="7122243" y="3493008"/>
            <a:ext cx="73152" cy="73152"/>
          </a:xfrm>
          <a:prstGeom prst="ellipse">
            <a:avLst/>
          </a:prstGeom>
          <a:solidFill>
            <a:srgbClr val="DD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45687" y="2066543"/>
            <a:ext cx="1951933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245687" y="2066543"/>
            <a:ext cx="1951933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83431" y="2322576"/>
            <a:ext cx="14764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6C3E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3431" y="2852928"/>
            <a:ext cx="147644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Georgia"/>
              </a:rPr>
              <a:t>Operación del establecimiento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3431" y="3456432"/>
            <a:ext cx="147644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El franquiciado administra su negocio, pero respetando los estándares definidos por el franquiciador.</a:t>
            </a:r>
          </a:p>
        </p:txBody>
      </p:sp>
      <p:sp>
        <p:nvSpPr>
          <p:cNvPr id="32" name="Oval 31"/>
          <p:cNvSpPr/>
          <p:nvPr/>
        </p:nvSpPr>
        <p:spPr>
          <a:xfrm>
            <a:off x="9247912" y="3493008"/>
            <a:ext cx="73152" cy="73152"/>
          </a:xfrm>
          <a:prstGeom prst="ellipse">
            <a:avLst/>
          </a:prstGeom>
          <a:solidFill>
            <a:srgbClr val="DD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371356" y="2066543"/>
            <a:ext cx="1951933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371356" y="2066543"/>
            <a:ext cx="1951933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9100" y="2322576"/>
            <a:ext cx="14764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6C3E"/>
                </a:solidFill>
                <a:latin typeface="Georgia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9100" y="2852928"/>
            <a:ext cx="147644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Georgia"/>
              </a:rPr>
              <a:t>Seguimiento y supervisión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9100" y="3456432"/>
            <a:ext cx="147644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Control continuo para que todas las unidades sostengan los estándares que identifican a la marca.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846320"/>
            <a:ext cx="5076428" cy="1170432"/>
          </a:xfrm>
          <a:prstGeom prst="rect">
            <a:avLst/>
          </a:prstGeom>
          <a:solidFill>
            <a:srgbClr val="F1EFEA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" y="5010912"/>
            <a:ext cx="45643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C56C3E"/>
                </a:solidFill>
                <a:latin typeface="Calibri"/>
              </a:rPr>
              <a:t>ANTES DE FIRMAR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523036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C56C3E"/>
                </a:solidFill>
                <a:latin typeface="Georgia"/>
              </a:rPr>
              <a:t>20 días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5632704"/>
            <a:ext cx="45643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hábiles de información previa obligatoria. Omitirla genera responsabilidad aunque no se firme.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6860" y="4846320"/>
            <a:ext cx="5076428" cy="117043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46860" y="4846320"/>
            <a:ext cx="5076428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02892" y="5010912"/>
            <a:ext cx="45643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C56C3E"/>
                </a:solidFill>
                <a:latin typeface="Calibri"/>
              </a:rPr>
              <a:t>LA FÓRMULA DEL MODELO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02892" y="5248656"/>
            <a:ext cx="45643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3F1EC"/>
                </a:solidFill>
                <a:latin typeface="Georgia"/>
              </a:rPr>
              <a:t>Independencia empresarial dentro de un marco de control: el franquiciado administra su negocio, pero no decide sobre todo.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>
                <a:solidFill>
                  <a:srgbClr val="8A94A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6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B2A41"/>
                </a:solidFill>
                <a:latin typeface="Georgia"/>
              </a:rPr>
              <a:t>Partes involucradas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8363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5570"/>
                </a:solidFill>
                <a:latin typeface="Calibri"/>
              </a:rPr>
              <a:t>Dos empresarios jurídicamente independientes que, sin embargo, se necesitan mutuamente.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56816"/>
            <a:ext cx="507642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956816"/>
            <a:ext cx="5076428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7864" y="2176272"/>
            <a:ext cx="44180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El franquiciador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2487168"/>
            <a:ext cx="44180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 spc="110">
                <a:solidFill>
                  <a:srgbClr val="8A94A6"/>
                </a:solidFill>
                <a:latin typeface="Calibri"/>
              </a:rPr>
              <a:t>TAMBIÉN FRANQUICIANTE U OTORGANTE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" y="2706624"/>
            <a:ext cx="44180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QUÉ APORTA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2889504"/>
            <a:ext cx="44180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Marca y signos distintivos · know-how probado · manuales y asistencia técnica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" y="3474720"/>
            <a:ext cx="44180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SUS DERECHOS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" y="3657600"/>
            <a:ext cx="44180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Cobrar canon y regalías · exigir confidencialidad · exigir la estandarización de la 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4242816"/>
            <a:ext cx="44180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SUS OBLIGACIONES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4425696"/>
            <a:ext cx="44180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Comunicar el know-how · prestar asistencia técnica · informar antes de contratar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6860" y="1956816"/>
            <a:ext cx="5076428" cy="3602736"/>
          </a:xfrm>
          <a:prstGeom prst="rect">
            <a:avLst/>
          </a:prstGeom>
          <a:solidFill>
            <a:srgbClr val="F1EFEA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46860" y="1956816"/>
            <a:ext cx="5076428" cy="4114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76044" y="2176272"/>
            <a:ext cx="44180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El franquiciado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6044" y="2487168"/>
            <a:ext cx="44180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 spc="110">
                <a:solidFill>
                  <a:srgbClr val="8A94A6"/>
                </a:solidFill>
                <a:latin typeface="Calibri"/>
              </a:rPr>
              <a:t>O FRANQUICIATARIO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6044" y="2706624"/>
            <a:ext cx="44180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QUÉ APORTA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6044" y="2889504"/>
            <a:ext cx="44180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Canon e inversión inicial · regalías periódicas · gestión y conocimiento del mercado 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6044" y="3474720"/>
            <a:ext cx="44180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SUS DERECHOS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6044" y="3657600"/>
            <a:ext cx="44180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Capacitación y asistencia · manual operativo completo · exclusividad territorial si se pactó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6044" y="4242816"/>
            <a:ext cx="44180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SUS OBLIGACIONES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6044" y="4425696"/>
            <a:ext cx="44180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Pagar canon y regalías · seguir el manual operativo · no competir con la 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5175504"/>
            <a:ext cx="10454609" cy="402336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97864" y="5559552"/>
            <a:ext cx="983281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1B2A41"/>
                </a:solidFill>
                <a:latin typeface="Calibri"/>
              </a:rPr>
              <a:t>Y un </a:t>
            </a:r>
            <a:r>
              <a:rPr sz="950" b="1" i="0" dirty="0" err="1">
                <a:solidFill>
                  <a:srgbClr val="1B2A41"/>
                </a:solidFill>
                <a:latin typeface="Calibri"/>
              </a:rPr>
              <a:t>tercero</a:t>
            </a:r>
            <a:r>
              <a:rPr sz="950" b="1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950" b="1" i="0" dirty="0" err="1">
                <a:solidFill>
                  <a:srgbClr val="1B2A41"/>
                </a:solidFill>
                <a:latin typeface="Calibri"/>
              </a:rPr>
              <a:t>cuando</a:t>
            </a:r>
            <a:r>
              <a:rPr sz="950" b="1" i="0" dirty="0">
                <a:solidFill>
                  <a:srgbClr val="1B2A41"/>
                </a:solidFill>
                <a:latin typeface="Calibri"/>
              </a:rPr>
              <a:t> la red se </a:t>
            </a:r>
            <a:r>
              <a:rPr sz="950" b="1" i="0" dirty="0" err="1">
                <a:solidFill>
                  <a:srgbClr val="1B2A41"/>
                </a:solidFill>
                <a:latin typeface="Calibri"/>
              </a:rPr>
              <a:t>internacionaliza</a:t>
            </a:r>
            <a:r>
              <a:rPr sz="950" b="1" i="0" dirty="0">
                <a:solidFill>
                  <a:srgbClr val="1B2A41"/>
                </a:solidFill>
                <a:latin typeface="Calibri"/>
              </a:rPr>
              <a:t>: 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el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subfranquiciante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o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máster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45570"/>
                </a:solidFill>
                <a:latin typeface="Calibri"/>
              </a:rPr>
              <a:t>franquiciado</a:t>
            </a:r>
            <a:r>
              <a:rPr sz="950" b="0" i="0" dirty="0">
                <a:solidFill>
                  <a:srgbClr val="44557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>
                <a:solidFill>
                  <a:srgbClr val="8A94A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6"/>
                </a:solidFill>
                <a:latin typeface="Georgia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B2A41"/>
                </a:solidFill>
                <a:latin typeface="Georgia"/>
              </a:rPr>
              <a:t>Principales ventajas y desventajas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8363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5570"/>
                </a:solidFill>
                <a:latin typeface="Calibri"/>
              </a:rPr>
              <a:t>Estandarizar es lo que crea el valor de la red y, a la vez, lo que restringe al franquiciado.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39696"/>
            <a:ext cx="5076428" cy="3877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139696"/>
            <a:ext cx="5076428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7864" y="2377440"/>
            <a:ext cx="44180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Ventajas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2761488"/>
            <a:ext cx="44180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1.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Reconocimiento de marca: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se parte de una marca ya posicionada en el mercado.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2.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Modelo validado: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negocio ya probado, sin la incertidumbre de empezar de cero.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3.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Menor riesgo: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más supervivencia que un negocio independiente equivalente.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4.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Capacitación y asistencia: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formación inicial y acompañamiento continuo de la marca.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5.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Apoyo en marketing: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las campañas y las redes se coordinan desde la marca.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6.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Economías de escala: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la red negocia como bloque y reduce costos de compra.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6860" y="2139696"/>
            <a:ext cx="5076428" cy="3877056"/>
          </a:xfrm>
          <a:prstGeom prst="rect">
            <a:avLst/>
          </a:prstGeom>
          <a:solidFill>
            <a:srgbClr val="F1EFEA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6860" y="2139696"/>
            <a:ext cx="5076428" cy="4114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6044" y="2377440"/>
            <a:ext cx="44180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Desventajas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6044" y="2761488"/>
            <a:ext cx="44180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1.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Costos elevados: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inversión inicial alta más regalías y aportes de publicidad.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2.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Autonomía limitada: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manda el estándar del franquiciador, no el criterio propio.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3.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Regalías fijas: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se pagan aunque el negocio no dé las ganancias esperadas.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4.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Conflictos entre las partes: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por estrategias, proveedores o condiciones económicas.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5.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Cláusulas estrictas: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exclusividad, duración, renovación y límites operativos.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6. </a:t>
            </a:r>
            <a:r>
              <a:rPr sz="1050" b="1" i="0">
                <a:solidFill>
                  <a:srgbClr val="1B2A41"/>
                </a:solidFill>
                <a:latin typeface="Calibri"/>
              </a:rPr>
              <a:t>Reputación ajena: </a:t>
            </a:r>
            <a:r>
              <a:rPr sz="1050" b="0" i="0">
                <a:solidFill>
                  <a:srgbClr val="445570"/>
                </a:solidFill>
                <a:latin typeface="Calibri"/>
              </a:rPr>
              <a:t>un golpe a la imagen de la marca afecta a toda la 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" y="-5549"/>
            <a:ext cx="1219196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>
                <a:solidFill>
                  <a:srgbClr val="A9B4C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4C6"/>
                </a:solidFill>
                <a:latin typeface="Georgia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3F1EC"/>
                </a:solidFill>
                <a:latin typeface="Georgia"/>
              </a:rPr>
              <a:t>Video entrevista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8363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A9B4C6"/>
                </a:solidFill>
                <a:latin typeface="Calibri"/>
              </a:rPr>
              <a:t>Entrevista sobre las claves del éxito del Grupo David en la expansión de franquicias.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560320"/>
            <a:ext cx="5076428" cy="1920240"/>
          </a:xfrm>
          <a:prstGeom prst="rect">
            <a:avLst/>
          </a:prstGeom>
          <a:solidFill>
            <a:srgbClr val="22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103120"/>
            <a:ext cx="5076428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7864" y="2322576"/>
            <a:ext cx="44180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C56C3E"/>
                </a:solidFill>
                <a:latin typeface="Calibri"/>
              </a:rPr>
              <a:t>INVITADO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2779776"/>
            <a:ext cx="44180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dirty="0">
                <a:solidFill>
                  <a:srgbClr val="F3F1EC"/>
                </a:solidFill>
                <a:latin typeface="Georgia"/>
              </a:rPr>
              <a:t>Gerardo </a:t>
            </a:r>
            <a:r>
              <a:rPr sz="2200" b="0" i="0" dirty="0" err="1">
                <a:solidFill>
                  <a:srgbClr val="F3F1EC"/>
                </a:solidFill>
                <a:latin typeface="Georgia"/>
              </a:rPr>
              <a:t>Marcano</a:t>
            </a:r>
            <a:endParaRPr sz="2200" b="0" i="0" dirty="0">
              <a:solidFill>
                <a:srgbClr val="F3F1EC"/>
              </a:solidFill>
              <a:latin typeface="Georg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97864" y="3218825"/>
            <a:ext cx="44180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Vicepresidente de operaciones · Grupo David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3491738"/>
            <a:ext cx="44180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 err="1">
                <a:solidFill>
                  <a:srgbClr val="A9B4C6"/>
                </a:solidFill>
                <a:latin typeface="Calibri"/>
              </a:rPr>
              <a:t>Veinte</a:t>
            </a:r>
            <a:r>
              <a:rPr sz="1000" b="0" i="0" dirty="0">
                <a:solidFill>
                  <a:srgbClr val="A9B4C6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9B4C6"/>
                </a:solidFill>
                <a:latin typeface="Calibri"/>
              </a:rPr>
              <a:t>años</a:t>
            </a:r>
            <a:r>
              <a:rPr sz="1000" b="0" i="0" dirty="0">
                <a:solidFill>
                  <a:srgbClr val="A9B4C6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9B4C6"/>
                </a:solidFill>
                <a:latin typeface="Calibri"/>
              </a:rPr>
              <a:t>en</a:t>
            </a:r>
            <a:r>
              <a:rPr sz="1000" b="0" i="0" dirty="0">
                <a:solidFill>
                  <a:srgbClr val="A9B4C6"/>
                </a:solidFill>
                <a:latin typeface="Calibri"/>
              </a:rPr>
              <a:t> la </a:t>
            </a:r>
            <a:r>
              <a:rPr sz="1000" b="0" i="0" dirty="0" err="1">
                <a:solidFill>
                  <a:srgbClr val="A9B4C6"/>
                </a:solidFill>
                <a:latin typeface="Calibri"/>
              </a:rPr>
              <a:t>organización</a:t>
            </a:r>
            <a:r>
              <a:rPr sz="1000" b="0" i="0" dirty="0">
                <a:solidFill>
                  <a:srgbClr val="A9B4C6"/>
                </a:solidFill>
                <a:latin typeface="Calibri"/>
              </a:rPr>
              <a:t>. </a:t>
            </a:r>
            <a:r>
              <a:rPr sz="1000" b="0" i="0" dirty="0" err="1">
                <a:solidFill>
                  <a:srgbClr val="A9B4C6"/>
                </a:solidFill>
                <a:latin typeface="Calibri"/>
              </a:rPr>
              <a:t>Pasó</a:t>
            </a:r>
            <a:r>
              <a:rPr sz="1000" b="0" i="0" dirty="0">
                <a:solidFill>
                  <a:srgbClr val="A9B4C6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9B4C6"/>
                </a:solidFill>
                <a:latin typeface="Calibri"/>
              </a:rPr>
              <a:t>por</a:t>
            </a:r>
            <a:r>
              <a:rPr sz="1000" b="0" i="0" dirty="0">
                <a:solidFill>
                  <a:srgbClr val="A9B4C6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9B4C6"/>
                </a:solidFill>
                <a:latin typeface="Calibri"/>
              </a:rPr>
              <a:t>gerencia</a:t>
            </a:r>
            <a:r>
              <a:rPr sz="1000" b="0" i="0" dirty="0">
                <a:solidFill>
                  <a:srgbClr val="A9B4C6"/>
                </a:solidFill>
                <a:latin typeface="Calibri"/>
              </a:rPr>
              <a:t> de tiendas, </a:t>
            </a:r>
            <a:r>
              <a:rPr sz="1000" b="0" i="0" dirty="0" err="1">
                <a:solidFill>
                  <a:srgbClr val="A9B4C6"/>
                </a:solidFill>
                <a:latin typeface="Calibri"/>
              </a:rPr>
              <a:t>operaciones</a:t>
            </a:r>
            <a:r>
              <a:rPr sz="1000" b="0" i="0" dirty="0">
                <a:solidFill>
                  <a:srgbClr val="A9B4C6"/>
                </a:solidFill>
                <a:latin typeface="Calibri"/>
              </a:rPr>
              <a:t> y </a:t>
            </a:r>
            <a:r>
              <a:rPr sz="1000" b="0" i="0" dirty="0" err="1">
                <a:solidFill>
                  <a:srgbClr val="A9B4C6"/>
                </a:solidFill>
                <a:latin typeface="Calibri"/>
              </a:rPr>
              <a:t>dirección</a:t>
            </a:r>
            <a:r>
              <a:rPr sz="1000" b="0" i="0" dirty="0">
                <a:solidFill>
                  <a:srgbClr val="A9B4C6"/>
                </a:solidFill>
                <a:latin typeface="Calibri"/>
              </a:rPr>
              <a:t> de retail.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292" y="2560320"/>
            <a:ext cx="5076428" cy="1920240"/>
          </a:xfrm>
          <a:prstGeom prst="rect">
            <a:avLst/>
          </a:prstGeom>
          <a:solidFill>
            <a:srgbClr val="22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6246860" y="2103120"/>
            <a:ext cx="5076428" cy="41148"/>
          </a:xfrm>
          <a:prstGeom prst="rect">
            <a:avLst/>
          </a:prstGeom>
          <a:solidFill>
            <a:srgbClr val="2C3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76044" y="2322576"/>
            <a:ext cx="44180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 dirty="0">
                <a:solidFill>
                  <a:srgbClr val="C56C3E"/>
                </a:solidFill>
                <a:latin typeface="Calibri"/>
              </a:rPr>
              <a:t>ESCALA DE LA OPERACIÓN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897" y="2816352"/>
            <a:ext cx="209930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dirty="0">
                <a:solidFill>
                  <a:srgbClr val="F3F1EC"/>
                </a:solidFill>
                <a:latin typeface="Georgia"/>
              </a:rPr>
              <a:t>23+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6044" y="3130843"/>
            <a:ext cx="209930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90" dirty="0">
                <a:solidFill>
                  <a:srgbClr val="A9B4C6"/>
                </a:solidFill>
                <a:latin typeface="Calibri"/>
              </a:rPr>
              <a:t>MARCAS OPERADAS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4803" y="2816352"/>
            <a:ext cx="209930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dirty="0">
                <a:solidFill>
                  <a:srgbClr val="F3F1EC"/>
                </a:solidFill>
                <a:latin typeface="Georgia"/>
              </a:rPr>
              <a:t>350+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4803" y="3152667"/>
            <a:ext cx="209930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90" dirty="0">
                <a:solidFill>
                  <a:srgbClr val="A9B4C6"/>
                </a:solidFill>
                <a:latin typeface="Calibri"/>
              </a:rPr>
              <a:t>TIENDAS EN LA REGIÓN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6044" y="3584448"/>
            <a:ext cx="209930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dirty="0">
                <a:solidFill>
                  <a:srgbClr val="F3F1EC"/>
                </a:solidFill>
                <a:latin typeface="Georgia"/>
              </a:rPr>
              <a:t>40+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6044" y="3968496"/>
            <a:ext cx="209930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90" dirty="0">
                <a:solidFill>
                  <a:srgbClr val="A9B4C6"/>
                </a:solidFill>
                <a:latin typeface="Calibri"/>
              </a:rPr>
              <a:t>FRANQUICIAS GESTIONADAS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4802" y="3617116"/>
            <a:ext cx="209930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 dirty="0">
                <a:solidFill>
                  <a:srgbClr val="F3F1EC"/>
                </a:solidFill>
                <a:latin typeface="Georgia"/>
              </a:rPr>
              <a:t>20+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4802" y="3964588"/>
            <a:ext cx="209930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90" dirty="0">
                <a:solidFill>
                  <a:srgbClr val="A9B4C6"/>
                </a:solidFill>
                <a:latin typeface="Calibri"/>
              </a:rPr>
              <a:t>PLATAFORMAS DE E-COMMERCE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" y="-3439"/>
            <a:ext cx="1219196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8138160" y="2011680"/>
            <a:ext cx="2926080" cy="2926080"/>
          </a:xfrm>
          <a:prstGeom prst="ellipse">
            <a:avLst/>
          </a:prstGeom>
          <a:noFill/>
          <a:ln w="13970">
            <a:solidFill>
              <a:srgbClr val="2C3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89720" y="4279392"/>
            <a:ext cx="566928" cy="566928"/>
          </a:xfrm>
          <a:prstGeom prst="ellipse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212848"/>
            <a:ext cx="6583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00">
                <a:solidFill>
                  <a:srgbClr val="C56C3E"/>
                </a:solidFill>
                <a:latin typeface="Calibri"/>
              </a:rPr>
              <a:t>CONTRATO DE FRANQUICIA · ACUERDOS COMERCIALES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i="0" dirty="0">
                <a:solidFill>
                  <a:srgbClr val="F3F1EC"/>
                </a:solidFill>
                <a:latin typeface="Georgia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547872"/>
            <a:ext cx="822960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>
                <a:solidFill>
                  <a:srgbClr val="8A94A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6"/>
                </a:solidFill>
                <a:latin typeface="Georgia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B2A41"/>
                </a:solidFill>
                <a:latin typeface="Georgia"/>
              </a:rPr>
              <a:t>Bibliografía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 err="1">
                <a:solidFill>
                  <a:srgbClr val="1B2A41"/>
                </a:solidFill>
                <a:latin typeface="Calibri"/>
              </a:rPr>
              <a:t>Apolo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850" b="1" i="0" dirty="0" err="1">
                <a:solidFill>
                  <a:srgbClr val="1B2A41"/>
                </a:solidFill>
                <a:latin typeface="Calibri"/>
              </a:rPr>
              <a:t>Apolo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, B. V., </a:t>
            </a:r>
            <a:r>
              <a:rPr sz="850" b="1" i="0" dirty="0" err="1">
                <a:solidFill>
                  <a:srgbClr val="1B2A41"/>
                </a:solidFill>
                <a:latin typeface="Calibri"/>
              </a:rPr>
              <a:t>Reinoso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 Galarza, B. A., y Cando Pacheco, J. de J. (2022).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Análisis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crítico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del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contrato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franquicia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en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la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legislación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ecuatoriana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, especial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referencia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a la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responsabilidad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del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franquiciado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. RECIMUNDO, 6(3), 459–474.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>
                <a:solidFill>
                  <a:srgbClr val="1B2A41"/>
                </a:solidFill>
                <a:latin typeface="Calibri"/>
              </a:rPr>
              <a:t>Calderón-Monge, E., Pastor-Sanz, I., y </a:t>
            </a:r>
            <a:r>
              <a:rPr sz="850" b="1" i="0" dirty="0" err="1">
                <a:solidFill>
                  <a:srgbClr val="1B2A41"/>
                </a:solidFill>
                <a:latin typeface="Calibri"/>
              </a:rPr>
              <a:t>Sendra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-García, J. (2021). 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How to select franchisees: A model proposal. Journal of Business Research, 135, 676–684.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45536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>
                <a:solidFill>
                  <a:srgbClr val="1B2A41"/>
                </a:solidFill>
                <a:latin typeface="Calibri"/>
              </a:rPr>
              <a:t>Candela, P. (2023, 1 de </a:t>
            </a:r>
            <a:r>
              <a:rPr sz="850" b="1" i="0" dirty="0" err="1">
                <a:solidFill>
                  <a:srgbClr val="1B2A41"/>
                </a:solidFill>
                <a:latin typeface="Calibri"/>
              </a:rPr>
              <a:t>febrero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). 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Good papers: La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extensión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responsabilidad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al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franquiciador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por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los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actos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del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franquiciatario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.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Almacén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Derecho.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12464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>
                <a:solidFill>
                  <a:srgbClr val="1B2A41"/>
                </a:solidFill>
                <a:latin typeface="Calibri"/>
              </a:rPr>
              <a:t>Conde Gómez, G. (2020). 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El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contrato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franquicia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en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la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Propuesta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Anteproyecto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Ley de Código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Mercantil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tras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el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Dictamen del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Consejo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Estado.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Revista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Derecho UNED, (26), 77–103.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79392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 err="1">
                <a:solidFill>
                  <a:srgbClr val="1B2A41"/>
                </a:solidFill>
                <a:latin typeface="Calibri"/>
              </a:rPr>
              <a:t>Congreso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 de la </a:t>
            </a:r>
            <a:r>
              <a:rPr sz="850" b="1" i="0" dirty="0" err="1">
                <a:solidFill>
                  <a:srgbClr val="1B2A41"/>
                </a:solidFill>
                <a:latin typeface="Calibri"/>
              </a:rPr>
              <a:t>Nación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 Argentina. (2014). 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Ley 26.994: Código Civil y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Comercial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la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Nación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, arts. 1512–1524,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Contrato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franquicia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>
                <a:solidFill>
                  <a:srgbClr val="1B2A41"/>
                </a:solidFill>
                <a:latin typeface="Calibri"/>
              </a:rPr>
              <a:t>EAE Business School. (2025).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Ventajas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inconvenientes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del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contrato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franquicia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13248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>
                <a:solidFill>
                  <a:srgbClr val="1B2A41"/>
                </a:solidFill>
                <a:latin typeface="Calibri"/>
              </a:rPr>
              <a:t>Federal Trade Commission. (2020). 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A consumer's guide to buying a franchise.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584" y="2011680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Franchise Business Review. (2025).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What are the advantages and disadvantages of franchising?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584" y="2578608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>
                <a:solidFill>
                  <a:srgbClr val="1B2A41"/>
                </a:solidFill>
                <a:latin typeface="Calibri"/>
              </a:rPr>
              <a:t>Kim, S. K., y </a:t>
            </a:r>
            <a:r>
              <a:rPr sz="850" b="1" i="0" dirty="0" err="1">
                <a:solidFill>
                  <a:srgbClr val="1B2A41"/>
                </a:solidFill>
                <a:latin typeface="Calibri"/>
              </a:rPr>
              <a:t>Tiwana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, A. (2022). 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Franchising contracts as routines: Untangling the adaptive value of incomplete contracts. Journal of Business Research, 152, 177–190.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584" y="3145536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 err="1">
                <a:solidFill>
                  <a:srgbClr val="1B2A41"/>
                </a:solidFill>
                <a:latin typeface="Calibri"/>
              </a:rPr>
              <a:t>Loaiza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, L. M. (2012). 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Panorama del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contrato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franquicia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en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Colombia: entre las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estipulaciones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contractuales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,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el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Código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Ética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y la Norma Técnica [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proyecto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grado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, Universidad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Icesi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584" y="3712464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 err="1">
                <a:solidFill>
                  <a:srgbClr val="1B2A41"/>
                </a:solidFill>
                <a:latin typeface="Calibri"/>
              </a:rPr>
              <a:t>Ministerio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 de Comercio, </a:t>
            </a:r>
            <a:r>
              <a:rPr sz="850" b="1" i="0" dirty="0" err="1">
                <a:solidFill>
                  <a:srgbClr val="1B2A41"/>
                </a:solidFill>
                <a:latin typeface="Calibri"/>
              </a:rPr>
              <a:t>Industria</a:t>
            </a:r>
            <a:r>
              <a:rPr sz="850" b="1" i="0" dirty="0">
                <a:solidFill>
                  <a:srgbClr val="1B2A41"/>
                </a:solidFill>
                <a:latin typeface="Calibri"/>
              </a:rPr>
              <a:t> y Turismo. (2021). 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Proyecto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decreto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sobre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las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franquicias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como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alternativa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para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el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emprendimiento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y la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expansión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las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mipymes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[no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expedido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].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584" y="4279392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NerdWallet. (2025).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Franchising: Advantages, disadvantages and how to buy a franchise.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584" y="4846320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dirty="0">
                <a:solidFill>
                  <a:srgbClr val="1B2A41"/>
                </a:solidFill>
                <a:latin typeface="Calibri"/>
              </a:rPr>
              <a:t>Speicher Mendiola, C. G. (2024). 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La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tipificación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del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contrato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franquicia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como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alternativa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para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impulsar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el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desarrollo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de las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empresas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peruanas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en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445570"/>
                </a:solidFill>
                <a:latin typeface="Calibri"/>
              </a:rPr>
              <a:t>el</a:t>
            </a:r>
            <a:r>
              <a:rPr sz="850" b="0" i="0" dirty="0">
                <a:solidFill>
                  <a:srgbClr val="445570"/>
                </a:solidFill>
                <a:latin typeface="Calibri"/>
              </a:rPr>
              <a:t> mercado local. Ius et Praxis, (58), 23–39.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584" y="5413248"/>
            <a:ext cx="4998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Superintendencia de Industria y Comercio. (2010).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Concepto sobre el contrato de franquicia [citado en Loaiza, 2012].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1313</Words>
  <Application>Microsoft Office PowerPoint</Application>
  <PresentationFormat>Panorámica</PresentationFormat>
  <Paragraphs>128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V. Valladares</dc:creator>
  <cp:keywords/>
  <dc:description>generated using python-pptx</dc:description>
  <cp:lastModifiedBy>Daniel V. Valladares</cp:lastModifiedBy>
  <cp:revision>2</cp:revision>
  <dcterms:created xsi:type="dcterms:W3CDTF">2013-01-27T09:14:16Z</dcterms:created>
  <dcterms:modified xsi:type="dcterms:W3CDTF">2026-09-10T03:40:24Z</dcterms:modified>
  <cp:category/>
</cp:coreProperties>
</file>