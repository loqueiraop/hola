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0:00–0:30 · Saludo, tema y anuncio de que la exposición cierra con una entrevista a un directivo que opera más de 40 franquicias.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0:30–3:15 · Distinguir franquicia (modelo de negocio) de contrato (instrumento jurídico). Cerrar con la banda: donde no hay tipificación, el contrato hace de norma. Ese es el punto que sostiene toda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3:15–6:00 · Recorrer las cinco etapas con ritmo. Detenerse en la 1 (la selección explica por qué unas redes funcionan y otras no) y en el recuadro del deber previo: la responsabilidad puede nacer antes de que exista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6:00–9:00 · Presentar a las dos partes. Insistir en que el franquiciado es empresario, no empleado. No leer las listas completas: destacar dos o tres de cada bloque. Cerrar con la banda inferior, que es el punto de discusión jurídica más interesante.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9:00–11:15 · No leer las doce. Agrupar: las ventajas se resumen en que se compra tiempo y se comparte infraestructura; las desventajas, en que se paga con dinero y con autonomía. Cerrar con la idea del subtítulo: son dos caras de la misma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11:15–12:00 · Presentar al invitado y justificar por qué su testimonio importa: opera la escala completa del modelo en la región. Dar las tres claves de observación y reproducir el video. Dejar esta diapositiva en pantalla mientras se proyecta.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de respaldo. No se lee en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Tras el video: retomar en una frase la idea de cierre —el éxito del modelo no se decide en el texto del contrato, sino en la disciplina con que se replica y se adapta el estándar— y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1417320"/>
            <a:ext cx="3611880" cy="3611880"/>
          </a:xfrm>
          <a:prstGeom prst="ellipse">
            <a:avLst/>
          </a:prstGeom>
          <a:noFill/>
          <a:ln w="13970">
            <a:solidFill>
              <a:srgbClr val="2C3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33488" y="4224528"/>
            <a:ext cx="694944" cy="694944"/>
          </a:xfrm>
          <a:prstGeom prst="ellipse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03720" y="1417320"/>
            <a:ext cx="9144" cy="3611880"/>
          </a:xfrm>
          <a:prstGeom prst="rect">
            <a:avLst/>
          </a:prstGeom>
          <a:solidFill>
            <a:srgbClr val="2C3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C56C3E"/>
                </a:solidFill>
                <a:latin typeface="Calibri"/>
              </a:rPr>
              <a:t>MAESTRÍA · ACUERDOS COMERCIALES · GRUPO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3F1EC"/>
                </a:solidFill>
                <a:latin typeface="Georgia"/>
              </a:rPr>
              <a:t>Contrato 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3F1EC"/>
                </a:solidFill>
                <a:latin typeface="Georgia"/>
              </a:rPr>
              <a:t>franquicia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438144"/>
            <a:ext cx="822960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75887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A9B4C6"/>
                </a:solidFill>
                <a:latin typeface="Calibri"/>
              </a:rPr>
              <a:t>Una figura de colaboración empresarial que organiza la expansión de una marca sin renunciar al control de su estándar.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047488"/>
            <a:ext cx="5577840" cy="7315"/>
          </a:xfrm>
          <a:prstGeom prst="rect">
            <a:avLst/>
          </a:prstGeom>
          <a:solidFill>
            <a:srgbClr val="2C3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48656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3F1EC"/>
                </a:solidFill>
                <a:latin typeface="Calibri"/>
              </a:rPr>
              <a:t>María Isabel Acosta · Xilena Blanco · María Daniela García · Fredy Valladares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77840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A9B4C6"/>
                </a:solidFill>
                <a:latin typeface="Calibri"/>
              </a:rPr>
              <a:t>DEFINICIÓN · APLICACIÓN · PARTES · VENTAJAS Y DESVENTAJAS · ENTREVISTA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0089" y="557784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A9B4C6"/>
                </a:solidFill>
                <a:latin typeface="Calibri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90">
                <a:solidFill>
                  <a:srgbClr val="C56C3E"/>
                </a:solidFill>
                <a:latin typeface="Calibri"/>
              </a:rPr>
              <a:t>COMPONENTE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Definición conceptual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Dos nociones que conviene no confundir: el modelo de negocio y el instrumento que lo ordena.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011680"/>
            <a:ext cx="50764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011680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2249424"/>
            <a:ext cx="4418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La franquicia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596896"/>
            <a:ext cx="44180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5570"/>
                </a:solidFill>
                <a:latin typeface="Calibri"/>
              </a:rPr>
              <a:t>Modelo de negocio mediante el cual una empresa autoriza a otra a utilizar su marca, sus conocimientos, sus procedimientos y su sistema de operación para desarrollar una actividad comercial.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3328416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LO QUE SE TRANSFIERE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547872"/>
            <a:ext cx="44180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La marca: nombre comercial, logotipo e imagen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El know-how: recetas, procesos y manuales validados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El sistema: diseño, atención, publicidad y estándares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4352544"/>
            <a:ext cx="44180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B2A41"/>
                </a:solidFill>
                <a:latin typeface="Calibri"/>
              </a:rPr>
              <a:t>En la práctica: distintos dueños, misma experiencia para el consumidor.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4809744"/>
            <a:ext cx="44180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(Speicher Mendiola, 2024)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6860" y="2011680"/>
            <a:ext cx="5076428" cy="3108960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6860" y="2011680"/>
            <a:ext cx="5076428" cy="411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6044" y="2249424"/>
            <a:ext cx="4418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El contrato de franquicia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044" y="2596896"/>
            <a:ext cx="44180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5570"/>
                </a:solidFill>
                <a:latin typeface="Calibri"/>
              </a:rPr>
              <a:t>Instrumento que fija las condiciones de la relación entre las partes: derechos, obligaciones, responsabilidades y términos bajo los cuales se desarrollará la franquicia.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6044" y="3328416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RASGOS QUE LO DEFINEN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6044" y="3547872"/>
            <a:ext cx="4418060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Bilateral y oneroso: obligaciones recíprocas y precio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De colaboración, no de simple intercambio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De tracto sucesivo: se ejecuta de forma continuada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Contrato marco: regula la pertenencia a una red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56C3E"/>
                </a:solidFill>
                <a:latin typeface="Calibri"/>
              </a:rPr>
              <a:t>—  </a:t>
            </a:r>
            <a:r>
              <a:rPr sz="1000" b="0" i="0">
                <a:solidFill>
                  <a:srgbClr val="445570"/>
                </a:solidFill>
                <a:latin typeface="Calibri"/>
              </a:rPr>
              <a:t>Necesariamente incompleto, para poder adaptarse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6044" y="4809744"/>
            <a:ext cx="44180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(Apolo Apolo et al., 2022; Kim y Tiwana, 2022)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285232"/>
            <a:ext cx="10454609" cy="78638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431536"/>
            <a:ext cx="97230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C56C3E"/>
                </a:solidFill>
                <a:latin typeface="Calibri"/>
              </a:rPr>
              <a:t>UN RECONOCIMIENTO JURÍDICO DESIGUAL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650992"/>
            <a:ext cx="972308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3F1EC"/>
                </a:solidFill>
                <a:latin typeface="Calibri"/>
              </a:rPr>
              <a:t>Argentina lo tipificó (arts. 1512–1524 CCyC); España lo regula por vía sectorial (Ley 7/1996); Ecuador lo reconoce en su Código de Comercio; Colombia y Perú lo mantienen como contrato atípico, de modo que el peso recae en la redacción del contrato y en la autonomía de la voluntad.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90">
                <a:solidFill>
                  <a:srgbClr val="C56C3E"/>
                </a:solidFill>
                <a:latin typeface="Calibri"/>
              </a:rPr>
              <a:t>COMPONENTE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¿Cómo se aplica?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El ciclo que va del acuerdo entre dos partes a la operación cotidiana de una 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322576"/>
            <a:ext cx="14764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852928"/>
            <a:ext cx="147644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Selección del franquiciado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456432"/>
            <a:ext cx="147644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La elección del inversionista adecuado es determinante para el éxito del sistema (Calderón-Monge et al., 2021).</a:t>
            </a:r>
          </a:p>
        </p:txBody>
      </p:sp>
      <p:sp>
        <p:nvSpPr>
          <p:cNvPr id="14" name="Oval 13"/>
          <p:cNvSpPr/>
          <p:nvPr/>
        </p:nvSpPr>
        <p:spPr>
          <a:xfrm>
            <a:off x="2870905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4349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94349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2093" y="2322576"/>
            <a:ext cx="14764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2093" y="2852928"/>
            <a:ext cx="147644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Formalización del acuerdo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2093" y="3456432"/>
            <a:ext cx="147644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Se firma el contrato y quedan fijadas las condiciones económicas, operativas y legales de la relación.</a:t>
            </a:r>
          </a:p>
        </p:txBody>
      </p:sp>
      <p:sp>
        <p:nvSpPr>
          <p:cNvPr id="20" name="Oval 19"/>
          <p:cNvSpPr/>
          <p:nvPr/>
        </p:nvSpPr>
        <p:spPr>
          <a:xfrm>
            <a:off x="4996574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018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018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57762" y="2322576"/>
            <a:ext cx="14764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7762" y="2852928"/>
            <a:ext cx="147644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Transferencia y capacitación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7762" y="3456432"/>
            <a:ext cx="147644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Entrenamiento del propietario y del personal, manuales de operación, asesoría administrativa y apoyo en marketing.</a:t>
            </a:r>
          </a:p>
        </p:txBody>
      </p:sp>
      <p:sp>
        <p:nvSpPr>
          <p:cNvPr id="26" name="Oval 25"/>
          <p:cNvSpPr/>
          <p:nvPr/>
        </p:nvSpPr>
        <p:spPr>
          <a:xfrm>
            <a:off x="7122243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45687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5687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3431" y="2322576"/>
            <a:ext cx="14764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3431" y="2852928"/>
            <a:ext cx="147644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Operación del establecimiento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3431" y="3456432"/>
            <a:ext cx="147644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El franquiciado administra su negocio, pero respetando los estándares definidos por el franquiciador.</a:t>
            </a:r>
          </a:p>
        </p:txBody>
      </p:sp>
      <p:sp>
        <p:nvSpPr>
          <p:cNvPr id="32" name="Oval 31"/>
          <p:cNvSpPr/>
          <p:nvPr/>
        </p:nvSpPr>
        <p:spPr>
          <a:xfrm>
            <a:off x="9247912" y="3493008"/>
            <a:ext cx="73152" cy="73152"/>
          </a:xfrm>
          <a:prstGeom prst="ellipse">
            <a:avLst/>
          </a:prstGeom>
          <a:solidFill>
            <a:srgbClr val="DD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71356" y="2066543"/>
            <a:ext cx="1951933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71356" y="2066543"/>
            <a:ext cx="1951933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9100" y="2322576"/>
            <a:ext cx="147644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C56C3E"/>
                </a:solidFill>
                <a:latin typeface="Georgia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9100" y="2852928"/>
            <a:ext cx="147644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41"/>
                </a:solidFill>
                <a:latin typeface="Georgia"/>
              </a:rPr>
              <a:t>Seguimiento y supervisión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9100" y="3456432"/>
            <a:ext cx="147644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Control continuo para que todas las unidades sostengan los estándares que identifican a la marca.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846320"/>
            <a:ext cx="5076428" cy="1170432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5010912"/>
            <a:ext cx="45643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56C3E"/>
                </a:solidFill>
                <a:latin typeface="Calibri"/>
              </a:rPr>
              <a:t>ANTES DE FIRMAR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5230368"/>
            <a:ext cx="45643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El franquiciador debe entregar información sobre su identidad, el sector, las características de la franquicia y la organización de la red al menos 20 días hábiles antes de la firma. Omitirla o deformarla genera responsabilidad aunque el contrato nunca se firme (Conde Gómez, 2020).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6860" y="4846320"/>
            <a:ext cx="5076428" cy="117043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6860" y="4846320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02892" y="5010912"/>
            <a:ext cx="45643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56C3E"/>
                </a:solidFill>
                <a:latin typeface="Calibri"/>
              </a:rPr>
              <a:t>LA FÓRMULA DEL MODELO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2892" y="5230368"/>
            <a:ext cx="45643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3F1EC"/>
                </a:solidFill>
                <a:latin typeface="Calibri"/>
              </a:rPr>
              <a:t>La franquicia combina independencia empresarial con un nivel de control establecido por el titular de la marca. El franquiciado administra su propio negocio, pero no decide sobre todo: opera dentro de un estándar que no le pertenece.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90">
                <a:solidFill>
                  <a:srgbClr val="C56C3E"/>
                </a:solidFill>
                <a:latin typeface="Calibri"/>
              </a:rPr>
              <a:t>COMPONENTE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Partes involucradas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Dos empresarios jurídicamente independientes que, sin embargo, se necesitan mutuamente.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56816"/>
            <a:ext cx="5076428" cy="3054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56816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2176272"/>
            <a:ext cx="4418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El franquiciador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487168"/>
            <a:ext cx="44180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 spc="110">
                <a:solidFill>
                  <a:srgbClr val="8A94A6"/>
                </a:solidFill>
                <a:latin typeface="Calibri"/>
              </a:rPr>
              <a:t>TAMBIÉN FRANQUICIANTE U OTORGANTE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2706624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QUÉ APORTA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2889504"/>
            <a:ext cx="44180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Marca y signos distintivos · know-how probado · manuales operativos · asistencia técnica y 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3474720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DERECHOS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3657600"/>
            <a:ext cx="44180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Cobrar canon y regalías · exigir confidencialidad del know-how · actualizar los manuales · exigir la estandarización de la 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4242816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OBLIGACIONES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4425696"/>
            <a:ext cx="44180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Comunicar el know-how · prestar asistencia técnica · entregar la información precontractual · responder ante litigios de propiedad intelectual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6860" y="1956816"/>
            <a:ext cx="5076428" cy="3054096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6860" y="1956816"/>
            <a:ext cx="5076428" cy="411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6044" y="2176272"/>
            <a:ext cx="4418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El franquiciado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6044" y="2487168"/>
            <a:ext cx="44180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 spc="110">
                <a:solidFill>
                  <a:srgbClr val="8A94A6"/>
                </a:solidFill>
                <a:latin typeface="Calibri"/>
              </a:rPr>
              <a:t>O FRANQUICIATARIO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6044" y="2706624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QUÉ APORTA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6044" y="2889504"/>
            <a:ext cx="44180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Canon de entrada e inversión inicial · regalías periódicas · gestión y equipo humano · conocimiento del mercado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6044" y="3474720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DERECHOS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6044" y="3657600"/>
            <a:ext cx="44180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Capacitación y asistencia permanente · manual operativo completo · exclusividad territorial si se pactó · adaptar el producto al mercado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6044" y="4242816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C56C3E"/>
                </a:solidFill>
                <a:latin typeface="Calibri"/>
              </a:rPr>
              <a:t>SUS OBLIGACIONES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6044" y="4425696"/>
            <a:ext cx="44180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570"/>
                </a:solidFill>
                <a:latin typeface="Calibri"/>
              </a:rPr>
              <a:t>Pagar canon y regalías · mantener la confidencialidad · seguir el manual operativo · permitir auditorías · no competir con la 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138928"/>
            <a:ext cx="10454609" cy="475488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9576" y="5212080"/>
            <a:ext cx="983281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A41"/>
                </a:solidFill>
                <a:latin typeface="Calibri"/>
              </a:rPr>
              <a:t>Y un tercero cuando la red se internacionaliza. 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Aparece el subfranquiciante o máster franquiciado, que sin ser titular de la marca asume frente a terceros las funciones propias de un franquiciador (Speicher Mendiola, 2024; Conde Gómez, 2020).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669280"/>
            <a:ext cx="10454609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9576" y="5724144"/>
            <a:ext cx="983281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Independencia declarada, pero no absoluta.  </a:t>
            </a:r>
            <a:r>
              <a:rPr sz="950" b="0" i="0">
                <a:solidFill>
                  <a:srgbClr val="F3F1EC"/>
                </a:solidFill>
                <a:latin typeface="Calibri"/>
              </a:rPr>
              <a:t>Argentina afirma que las partes son independientes (art. 1520 CCyC) y el proyecto colombiano descarta la solidaridad pasiva salvo pacto expreso. Aun así, la jurisprudencia española la extiende al franquiciador cuando el daño deriva de sus instrucciones concretas.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90">
                <a:solidFill>
                  <a:srgbClr val="C56C3E"/>
                </a:solidFill>
                <a:latin typeface="Calibri"/>
              </a:rPr>
              <a:t>COMPONENTE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Principales ventajas y desventajas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45570"/>
                </a:solidFill>
                <a:latin typeface="Calibri"/>
              </a:rPr>
              <a:t>Estandarizar es lo que crea el valor de la red y, a la vez, lo que restringe al franquiciado.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76428" cy="38770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139696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2377440"/>
            <a:ext cx="4418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Ventajas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761488"/>
            <a:ext cx="44180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1.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Reconocimiento de marca: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se arranca con una marca posicionada: capta clientes antes y gana reputación más rápido.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2.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Modelo de negocio validado: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se accede a un negocio ya probado y se reduce la incertidumbre de crear una marca desde cero.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3.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Menor riesgo empresarial: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registra tasas de supervivencia superiores a las de los negocios independientes.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4.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Capacitación y asistencia: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formación técnica inicial y acompañamiento continuo en marketing, operaciones y gestión.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5.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Apoyo en marketing: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las campañas y las redes sociales se diseñan y coordinan desde la marca.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6.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Economías de escala: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la red negocia como bloque: mejores condiciones y menores costos de adquisición.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6860" y="2139696"/>
            <a:ext cx="5076428" cy="3877056"/>
          </a:xfrm>
          <a:prstGeom prst="rect">
            <a:avLst/>
          </a:prstGeom>
          <a:solidFill>
            <a:srgbClr val="F1EFEA"/>
          </a:solidFill>
          <a:ln w="9525">
            <a:solidFill>
              <a:srgbClr val="DD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6860" y="2139696"/>
            <a:ext cx="5076428" cy="4114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6044" y="2377440"/>
            <a:ext cx="4418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41"/>
                </a:solidFill>
                <a:latin typeface="Georgia"/>
              </a:rPr>
              <a:t>Desventajas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6044" y="2761488"/>
            <a:ext cx="44180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1.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Costos elevados: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inversión inicial alta más pagos continuos por regalías y publicidad.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2.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Limitación de la autonomía: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debe seguir con rigor las políticas, estándares y procedimientos del franquiciador.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3.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Regalías al margen del resultado: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se pagan aunque el negocio no genere las ganancias esperadas.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4.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Conflictos entre las partes: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diferencias sobre estrategias, proveedores autorizados o condiciones económicas.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5.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Cláusulas estrictas: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exclusividad, duración, renovación y restricciones que limitan la flexibilidad.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C56C3E"/>
                </a:solidFill>
                <a:latin typeface="Calibri"/>
              </a:rPr>
              <a:t>6. </a:t>
            </a:r>
            <a:r>
              <a:rPr sz="950" b="1" i="0">
                <a:solidFill>
                  <a:srgbClr val="1B2A41"/>
                </a:solidFill>
                <a:latin typeface="Calibri"/>
              </a:rPr>
              <a:t>Dependencia de la reputación ajena: </a:t>
            </a:r>
            <a:r>
              <a:rPr sz="950" b="0" i="0">
                <a:solidFill>
                  <a:srgbClr val="445570"/>
                </a:solidFill>
                <a:latin typeface="Calibri"/>
              </a:rPr>
              <a:t>un golpe a la imagen del franquiciador repercute sobre toda la 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A9B4C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9B4C6"/>
                </a:solidFill>
                <a:latin typeface="Georg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90">
                <a:solidFill>
                  <a:srgbClr val="C56C3E"/>
                </a:solidFill>
                <a:latin typeface="Calibri"/>
              </a:rPr>
              <a:t>COMPONENTE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3F1EC"/>
                </a:solidFill>
                <a:latin typeface="Georgia"/>
              </a:rPr>
              <a:t>Video entrevista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0784"/>
            <a:ext cx="83636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A9B4C6"/>
                </a:solidFill>
                <a:latin typeface="Calibri"/>
              </a:rPr>
              <a:t>Entrevista sobre las claves del éxito del Grupo David en la expansión de franquicias.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103120"/>
            <a:ext cx="5076428" cy="1920240"/>
          </a:xfrm>
          <a:prstGeom prst="rect">
            <a:avLst/>
          </a:prstGeom>
          <a:solidFill>
            <a:srgbClr val="22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103120"/>
            <a:ext cx="5076428" cy="41148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2322576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56C3E"/>
                </a:solidFill>
                <a:latin typeface="Calibri"/>
              </a:rPr>
              <a:t>INVITADO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2578608"/>
            <a:ext cx="44180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3F1EC"/>
                </a:solidFill>
                <a:latin typeface="Georgia"/>
              </a:rPr>
              <a:t>Gerardo Marcano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2962656"/>
            <a:ext cx="44180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56C3E"/>
                </a:solidFill>
                <a:latin typeface="Calibri"/>
              </a:rPr>
              <a:t>Vicepresidente de operaciones · Grupo David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236976"/>
            <a:ext cx="44180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B4C6"/>
                </a:solidFill>
                <a:latin typeface="Calibri"/>
              </a:rPr>
              <a:t>Veinte años en la organización. Ha sido gerente de tiendas minoristas, gerente de operaciones y director de retail. Hoy supervisa la operación integral del grupo, que incluye más de 40 franquicias.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6860" y="2103120"/>
            <a:ext cx="5076428" cy="1920240"/>
          </a:xfrm>
          <a:prstGeom prst="rect">
            <a:avLst/>
          </a:prstGeom>
          <a:solidFill>
            <a:srgbClr val="22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6860" y="2103120"/>
            <a:ext cx="5076428" cy="41148"/>
          </a:xfrm>
          <a:prstGeom prst="rect">
            <a:avLst/>
          </a:prstGeom>
          <a:solidFill>
            <a:srgbClr val="2C3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6044" y="2322576"/>
            <a:ext cx="44180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56C3E"/>
                </a:solidFill>
                <a:latin typeface="Calibri"/>
              </a:rPr>
              <a:t>ESCALA DE LA OPERACIÓN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6044" y="2615184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3F1EC"/>
                </a:solidFill>
                <a:latin typeface="Georgia"/>
              </a:rPr>
              <a:t>23+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6044" y="2926079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>
                <a:solidFill>
                  <a:srgbClr val="A9B4C6"/>
                </a:solidFill>
                <a:latin typeface="Calibri"/>
              </a:rPr>
              <a:t>MARCAS OPERADAS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4803" y="2615184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3F1EC"/>
                </a:solidFill>
                <a:latin typeface="Georgia"/>
              </a:rPr>
              <a:t>350+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4803" y="2926079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>
                <a:solidFill>
                  <a:srgbClr val="A9B4C6"/>
                </a:solidFill>
                <a:latin typeface="Calibri"/>
              </a:rPr>
              <a:t>TIENDAS EN LA REGIÓN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6044" y="3328415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3F1EC"/>
                </a:solidFill>
                <a:latin typeface="Georgia"/>
              </a:rPr>
              <a:t>40+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6044" y="3639311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>
                <a:solidFill>
                  <a:srgbClr val="A9B4C6"/>
                </a:solidFill>
                <a:latin typeface="Calibri"/>
              </a:rPr>
              <a:t>FRANQUICIAS GESTIONADAS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4803" y="3328415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3F1EC"/>
                </a:solidFill>
                <a:latin typeface="Georgia"/>
              </a:rPr>
              <a:t>20+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4803" y="3639311"/>
            <a:ext cx="20993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90">
                <a:solidFill>
                  <a:srgbClr val="A9B4C6"/>
                </a:solidFill>
                <a:latin typeface="Calibri"/>
              </a:rPr>
              <a:t>PLATAFORMAS DE E-COMMERCE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79392"/>
            <a:ext cx="1045460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50">
                <a:solidFill>
                  <a:srgbClr val="C56C3E"/>
                </a:solidFill>
                <a:latin typeface="Calibri"/>
              </a:rPr>
              <a:t>QUÉ OBSERVAR MIENTRAS VEMOS EL VIDEO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572000"/>
            <a:ext cx="3326373" cy="1078992"/>
          </a:xfrm>
          <a:prstGeom prst="rect">
            <a:avLst/>
          </a:prstGeom>
          <a:solidFill>
            <a:srgbClr val="22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4572000"/>
            <a:ext cx="41148" cy="1078992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773168"/>
            <a:ext cx="27777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6C3E"/>
                </a:solidFill>
                <a:latin typeface="Georgia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65776"/>
            <a:ext cx="2777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3F1EC"/>
                </a:solidFill>
                <a:latin typeface="Calibri"/>
              </a:rPr>
              <a:t>Cómo el reconocimiento de marca decide si una apertura se hace o no.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2797" y="4572000"/>
            <a:ext cx="3326373" cy="1078992"/>
          </a:xfrm>
          <a:prstGeom prst="rect">
            <a:avLst/>
          </a:prstGeom>
          <a:solidFill>
            <a:srgbClr val="22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2797" y="4572000"/>
            <a:ext cx="41148" cy="1078992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7117" y="4773168"/>
            <a:ext cx="27777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6C3E"/>
                </a:solidFill>
                <a:latin typeface="Georgia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7117" y="5065776"/>
            <a:ext cx="2777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3F1EC"/>
                </a:solidFill>
                <a:latin typeface="Calibri"/>
              </a:rPr>
              <a:t>Hasta dónde puede adaptarse el modelo sin romper el estándar: la tropicalización.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96915" y="4572000"/>
            <a:ext cx="3326373" cy="1078992"/>
          </a:xfrm>
          <a:prstGeom prst="rect">
            <a:avLst/>
          </a:prstGeom>
          <a:solidFill>
            <a:srgbClr val="22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96915" y="4572000"/>
            <a:ext cx="41148" cy="1078992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1235" y="4773168"/>
            <a:ext cx="277773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6C3E"/>
                </a:solidFill>
                <a:latin typeface="Georgia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1235" y="5065776"/>
            <a:ext cx="27777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3F1EC"/>
                </a:solidFill>
                <a:latin typeface="Calibri"/>
              </a:rPr>
              <a:t>El manual operativo en la práctica: marco flexible o camisa de fuerza.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97296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A9B4C6"/>
                </a:solidFill>
                <a:latin typeface="Calibri"/>
              </a:rPr>
              <a:t>Ejes de la conversación: estrategias de expansión · innovación y omnicanalidad · cultura de replicación operativa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345936"/>
            <a:ext cx="627276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90">
                <a:solidFill>
                  <a:srgbClr val="8A94A6"/>
                </a:solidFill>
                <a:latin typeface="Calibri"/>
              </a:rPr>
              <a:t>CONTRATO DE FRANQUICIA · ACUERDOS COMERCIALES · 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08889" y="63459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6"/>
                </a:solidFill>
                <a:latin typeface="Georgi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90">
                <a:solidFill>
                  <a:srgbClr val="C56C3E"/>
                </a:solidFill>
                <a:latin typeface="Calibri"/>
              </a:rPr>
              <a:t>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41248"/>
            <a:ext cx="89909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B2A41"/>
                </a:solidFill>
                <a:latin typeface="Georgia"/>
              </a:rPr>
              <a:t>Bibliografía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17904"/>
            <a:ext cx="658368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Apolo Apolo, B. V., Reinoso Galarza, B. A., y Cando Pacheco, J. de J. (2022).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Análisis crítico del contrato de franquicia en la legislación ecuatoriana, especial referencia a la responsabilidad del franquiciado. RECIMUNDO, 6(3), 459–474.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Calderón-Monge, E., Pastor-Sanz, I., y Sendra-García, J. (2021).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How to select franchisees: A model proposal. Journal of Business Research, 135, 676–684.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45536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Candela, P. (2023, 1 de febrero).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Good papers: La extensión de responsabilidad al franquiciador por los actos del franquiciatario. Almacén de Derecho.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12464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Conde Gómez, G. (2020).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El contrato de franquicia en la Propuesta de Anteproyecto de Ley de Código Mercantil tras el Dictamen del Consejo de Estado. Revista de Derecho UNED, (26), 77–103.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79392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Congreso de la Nación Argentina. (2014).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Ley 26.994: Código Civil y Comercial de la Nación, arts. 1512–1524, Contrato de franquicia.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EAE Business School. (2025).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Ventajas e inconvenientes del contrato de franquicia.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13248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Federal Trade Commission. (2020).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A consumer's guide to buying a franchise.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584" y="2011680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Franchise Business Review. (2025).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What are the advantages and disadvantages of franchising?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584" y="2578608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Kim, S. K., y Tiwana, A. (2022).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Franchising contracts as routines: Untangling the adaptive value of incomplete contracts. Journal of Business Research, 152, 177–190.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584" y="3145536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Loaiza, L. M. (2012).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Panorama del contrato de franquicia en Colombia: entre las estipulaciones contractuales, el Código de Ética y la Norma Técnica [proyecto de grado, Universidad Icesi].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584" y="3712464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Ministerio de Comercio, Industria y Turismo. (2021).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Proyecto de decreto sobre las franquicias como alternativa para el emprendimiento y la expansión de las mipymes [no expedido].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584" y="4279392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NerdWallet. (2025).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Franchising: Advantages, disadvantages and how to buy a franchise.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584" y="4846320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Speicher Mendiola, C. G. (2024).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La tipificación del contrato de franquicia como alternativa para impulsar el desarrollo de las empresas peruanas en el mercado local. Ius et Praxis, (58), 23–39.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584" y="5413248"/>
            <a:ext cx="4998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2A41"/>
                </a:solidFill>
                <a:latin typeface="Calibri"/>
              </a:rPr>
              <a:t>Superintendencia de Industria y Comercio. (2010). </a:t>
            </a:r>
            <a:r>
              <a:rPr sz="850" b="0" i="0">
                <a:solidFill>
                  <a:srgbClr val="445570"/>
                </a:solidFill>
                <a:latin typeface="Calibri"/>
              </a:rPr>
              <a:t>Concepto sobre el contrato de franquicia [citado en Loaiza, 2012].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16752"/>
            <a:ext cx="1045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8A94A6"/>
                </a:solidFill>
                <a:latin typeface="Calibri"/>
              </a:rPr>
              <a:t>Referencias en formato APA 7.ª edición.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2011680"/>
            <a:ext cx="2926080" cy="2926080"/>
          </a:xfrm>
          <a:prstGeom prst="ellipse">
            <a:avLst/>
          </a:prstGeom>
          <a:noFill/>
          <a:ln w="13970">
            <a:solidFill>
              <a:srgbClr val="2C3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89720" y="4279392"/>
            <a:ext cx="566928" cy="566928"/>
          </a:xfrm>
          <a:prstGeom prst="ellipse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12848"/>
            <a:ext cx="6583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C56C3E"/>
                </a:solidFill>
                <a:latin typeface="Calibri"/>
              </a:rPr>
              <a:t>CONTRATO DE FRANQUICIA · ACUERDOS COMERCIALES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i="0">
                <a:solidFill>
                  <a:srgbClr val="F3F1EC"/>
                </a:solidFill>
                <a:latin typeface="Georgia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47872"/>
            <a:ext cx="822960" cy="32004"/>
          </a:xfrm>
          <a:prstGeom prst="rect">
            <a:avLst/>
          </a:prstGeom>
          <a:solidFill>
            <a:srgbClr val="C56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0390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A9B4C6"/>
                </a:solidFill>
                <a:latin typeface="Calibri"/>
              </a:rPr>
              <a:t>Quedamos atentos a sus preguntas y comentarios.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73168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C56C3E"/>
                </a:solidFill>
                <a:latin typeface="Calibri"/>
              </a:rPr>
              <a:t>GRUPO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47488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3F1EC"/>
                </a:solidFill>
                <a:latin typeface="Calibri"/>
              </a:rPr>
              <a:t>María Isabel Acosta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3F1EC"/>
                </a:solidFill>
                <a:latin typeface="Calibri"/>
              </a:rPr>
              <a:t>Xilena Blanco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3F1EC"/>
                </a:solidFill>
                <a:latin typeface="Calibri"/>
              </a:rPr>
              <a:t>María Daniela García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3F1EC"/>
                </a:solidFill>
                <a:latin typeface="Calibri"/>
              </a:rPr>
              <a:t>Fredy Valladares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