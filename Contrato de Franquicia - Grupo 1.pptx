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0:00–0:30 · Saludo, tema y anuncio de que la exposición cierra con una entrevista a un directivo que opera más de 40 franquicias.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0:30–3:15 · Distinguir franquicia (modelo de negocio) de contrato (instrumento jurídico). Cerrar con la banda: donde no hay tipificación, el contrato hace de norma. Ese es el punto que sostiene toda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3:15–6:00 · Recorrer las cinco etapas con ritmo. Detenerse en la 1 (la selección explica por qué unas redes funcionan y otras no) y en el recuadro del deber previo: la responsabilidad puede nacer antes de que exista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6:00–9:00 · Presentar a las dos partes. Insistir en que el franquiciado es empresario, no empleado. No leer las listas completas: destacar dos o tres de cada bloque. Cerrar con la banda inferior, que es el punto de discusión jurídica más interesante.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9:00–11:15 · No leer las doce. Agrupar: las ventajas se resumen en que se compra tiempo y se comparte infraestructura; las desventajas, en que se paga con dinero y con autonomía. Cerrar con la idea del subtítulo: son dos caras de la misma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11:15–12:00 · Presentar al invitado y justificar por qué su testimonio importa: opera la escala completa del modelo en la región. Dar las tres claves de observación y reproducir el video. Dejar esta diapositiva en pantalla mientras se proyecta.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de respaldo. No se lee en la exposición.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Tras el video: retomar en una frase la idea de cierre —el éxito del modelo no se decide en el texto del contrato, sino en la disciplina con que se replica y se adapta el estándar— y abrir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80960" y="1417320"/>
            <a:ext cx="3611880" cy="3611880"/>
          </a:xfrm>
          <a:prstGeom prst="ellipse">
            <a:avLst/>
          </a:prstGeom>
          <a:noFill/>
          <a:ln w="13970">
            <a:solidFill>
              <a:srgbClr val="2C3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33488" y="4224528"/>
            <a:ext cx="694944" cy="694944"/>
          </a:xfrm>
          <a:prstGeom prst="ellipse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903720" y="1417320"/>
            <a:ext cx="9144" cy="3611880"/>
          </a:xfrm>
          <a:prstGeom prst="rect">
            <a:avLst/>
          </a:prstGeom>
          <a:solidFill>
            <a:srgbClr val="2C3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89888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C56C3E"/>
                </a:solidFill>
                <a:latin typeface="Calibri"/>
              </a:rPr>
              <a:t>MAESTRÍA · ACUERDOS COMERCIALES · GRUPO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92224"/>
            <a:ext cx="6035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3F1EC"/>
                </a:solidFill>
                <a:latin typeface="Georgia"/>
              </a:rPr>
              <a:t>Contrato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800" b="0" i="0">
                <a:solidFill>
                  <a:srgbClr val="F3F1EC"/>
                </a:solidFill>
                <a:latin typeface="Georgia"/>
              </a:rPr>
              <a:t>franquicia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438144"/>
            <a:ext cx="822960" cy="32004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675887"/>
            <a:ext cx="5577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A9B4C6"/>
                </a:solidFill>
                <a:latin typeface="Calibri"/>
              </a:rPr>
              <a:t>Una figura de colaboración empresarial que organiza la expansión de una marca sin renunciar al control de su estándar.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47488"/>
            <a:ext cx="5577840" cy="7315"/>
          </a:xfrm>
          <a:prstGeom prst="rect">
            <a:avLst/>
          </a:prstGeom>
          <a:solidFill>
            <a:srgbClr val="2C3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48656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3F1EC"/>
                </a:solidFill>
                <a:latin typeface="Calibri"/>
              </a:rPr>
              <a:t>María Isabel Acosta · Xilena Blanco · María Daniela García · Fredy Valladares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577840"/>
            <a:ext cx="6035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A9B4C6"/>
                </a:solidFill>
                <a:latin typeface="Calibri"/>
              </a:rPr>
              <a:t>DEFINICIÓN · APLICACIÓN · PARTES · VENTAJAS Y DESVENTAJAS · ENTREVISTA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0089" y="557784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A9B4C6"/>
                </a:solidFill>
                <a:latin typeface="Calibri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345936"/>
            <a:ext cx="627276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90">
                <a:solidFill>
                  <a:srgbClr val="8A94A6"/>
                </a:solidFill>
                <a:latin typeface="Calibri"/>
              </a:rPr>
              <a:t>CONTRATO DE FRANQUICIA · ACUERDOS COMERCIALES · GRUPO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889" y="6345936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6"/>
                </a:solidFill>
                <a:latin typeface="Georgia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1045460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90">
                <a:solidFill>
                  <a:srgbClr val="C56C3E"/>
                </a:solidFill>
                <a:latin typeface="Calibri"/>
              </a:rPr>
              <a:t>COMPONENTE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841248"/>
            <a:ext cx="89909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1B2A41"/>
                </a:solidFill>
                <a:latin typeface="Georgia"/>
              </a:rPr>
              <a:t>Definición conceptual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17904"/>
            <a:ext cx="658368" cy="32004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83636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45570"/>
                </a:solidFill>
                <a:latin typeface="Calibri"/>
              </a:rPr>
              <a:t>Dos nociones que conviene no confundir: el modelo de negocio y el instrumento que lo ordena.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011680"/>
            <a:ext cx="5076428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011680"/>
            <a:ext cx="5076428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97864" y="2249424"/>
            <a:ext cx="44180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2A41"/>
                </a:solidFill>
                <a:latin typeface="Georgia"/>
              </a:rPr>
              <a:t>La franquicia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7864" y="2596896"/>
            <a:ext cx="44180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5570"/>
                </a:solidFill>
                <a:latin typeface="Calibri"/>
              </a:rPr>
              <a:t>Modelo de negocio mediante el cual una empresa autoriza a otra a utilizar su marca, sus conocimientos, sus procedimientos y su sistema de operación para desarrollar una actividad comercial.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3328416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C56C3E"/>
                </a:solidFill>
                <a:latin typeface="Calibri"/>
              </a:rPr>
              <a:t>LO QUE SE TRANSFIERE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3547872"/>
            <a:ext cx="44180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56C3E"/>
                </a:solidFill>
                <a:latin typeface="Calibri"/>
              </a:rPr>
              <a:t>—  </a:t>
            </a:r>
            <a:r>
              <a:rPr sz="1000" b="0" i="0">
                <a:solidFill>
                  <a:srgbClr val="445570"/>
                </a:solidFill>
                <a:latin typeface="Calibri"/>
              </a:rPr>
              <a:t>La marca: nombre comercial, logotipo e imagen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56C3E"/>
                </a:solidFill>
                <a:latin typeface="Calibri"/>
              </a:rPr>
              <a:t>—  </a:t>
            </a:r>
            <a:r>
              <a:rPr sz="1000" b="0" i="0">
                <a:solidFill>
                  <a:srgbClr val="445570"/>
                </a:solidFill>
                <a:latin typeface="Calibri"/>
              </a:rPr>
              <a:t>El know-how: recetas, procesos y manuales validados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56C3E"/>
                </a:solidFill>
                <a:latin typeface="Calibri"/>
              </a:rPr>
              <a:t>—  </a:t>
            </a:r>
            <a:r>
              <a:rPr sz="1000" b="0" i="0">
                <a:solidFill>
                  <a:srgbClr val="445570"/>
                </a:solidFill>
                <a:latin typeface="Calibri"/>
              </a:rPr>
              <a:t>El sistema: diseño, atención, publicidad y estándares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7864" y="4352544"/>
            <a:ext cx="44180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B2A41"/>
                </a:solidFill>
                <a:latin typeface="Calibri"/>
              </a:rPr>
              <a:t>En la práctica: distintos dueños, misma experiencia para el consumidor.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7864" y="4809744"/>
            <a:ext cx="44180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94A6"/>
                </a:solidFill>
                <a:latin typeface="Calibri"/>
              </a:rPr>
              <a:t>(Speicher Mendiola, 2024)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6860" y="2011680"/>
            <a:ext cx="5076428" cy="3108960"/>
          </a:xfrm>
          <a:prstGeom prst="rect">
            <a:avLst/>
          </a:prstGeom>
          <a:solidFill>
            <a:srgbClr val="F1EFEA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6860" y="2011680"/>
            <a:ext cx="5076428" cy="41148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6044" y="2249424"/>
            <a:ext cx="44180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2A41"/>
                </a:solidFill>
                <a:latin typeface="Georgia"/>
              </a:rPr>
              <a:t>El contrato de franquicia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044" y="2596896"/>
            <a:ext cx="44180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5570"/>
                </a:solidFill>
                <a:latin typeface="Calibri"/>
              </a:rPr>
              <a:t>Instrumento que fija las condiciones de la relación entre las partes: derechos, obligaciones, responsabilidades y términos bajo los cuales se desarrollará la franquicia.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6044" y="3328416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C56C3E"/>
                </a:solidFill>
                <a:latin typeface="Calibri"/>
              </a:rPr>
              <a:t>RASGOS QUE LO DEFINEN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6044" y="3547872"/>
            <a:ext cx="44180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56C3E"/>
                </a:solidFill>
                <a:latin typeface="Calibri"/>
              </a:rPr>
              <a:t>—  </a:t>
            </a:r>
            <a:r>
              <a:rPr sz="1000" b="0" i="0">
                <a:solidFill>
                  <a:srgbClr val="445570"/>
                </a:solidFill>
                <a:latin typeface="Calibri"/>
              </a:rPr>
              <a:t>De colaboración, no de simple intercambio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56C3E"/>
                </a:solidFill>
                <a:latin typeface="Calibri"/>
              </a:rPr>
              <a:t>—  </a:t>
            </a:r>
            <a:r>
              <a:rPr sz="1000" b="0" i="0">
                <a:solidFill>
                  <a:srgbClr val="445570"/>
                </a:solidFill>
                <a:latin typeface="Calibri"/>
              </a:rPr>
              <a:t>De tracto sucesivo: se ejecuta de forma continuada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56C3E"/>
                </a:solidFill>
                <a:latin typeface="Calibri"/>
              </a:rPr>
              <a:t>—  </a:t>
            </a:r>
            <a:r>
              <a:rPr sz="1000" b="0" i="0">
                <a:solidFill>
                  <a:srgbClr val="445570"/>
                </a:solidFill>
                <a:latin typeface="Calibri"/>
              </a:rPr>
              <a:t>Contrato marco: regula la pertenencia a una 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56C3E"/>
                </a:solidFill>
                <a:latin typeface="Calibri"/>
              </a:rPr>
              <a:t>—  </a:t>
            </a:r>
            <a:r>
              <a:rPr sz="1000" b="0" i="0">
                <a:solidFill>
                  <a:srgbClr val="445570"/>
                </a:solidFill>
                <a:latin typeface="Calibri"/>
              </a:rPr>
              <a:t>Necesariamente incompleto, para poder adaptarse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6044" y="4809744"/>
            <a:ext cx="44180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94A6"/>
                </a:solidFill>
                <a:latin typeface="Calibri"/>
              </a:rPr>
              <a:t>(Apolo Apolo et al., 2022; Kim y Tiwana, 2022)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30368"/>
            <a:ext cx="10454609" cy="9144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5394960"/>
            <a:ext cx="972308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C56C3E"/>
                </a:solidFill>
                <a:latin typeface="Calibri"/>
              </a:rPr>
              <a:t>UN RECONOCIMIENTO JURÍDICO DESIGUAL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632704"/>
            <a:ext cx="222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1EC"/>
                </a:solidFill>
                <a:latin typeface="Calibri"/>
              </a:rPr>
              <a:t>Argentina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833872"/>
            <a:ext cx="222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9B4C6"/>
                </a:solidFill>
                <a:latin typeface="Calibri"/>
              </a:rPr>
              <a:t>Tipificado (arts. 1512–1524)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33792" y="5632704"/>
            <a:ext cx="222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1EC"/>
                </a:solidFill>
                <a:latin typeface="Calibri"/>
              </a:rPr>
              <a:t>España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33792" y="5833872"/>
            <a:ext cx="222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9B4C6"/>
                </a:solidFill>
                <a:latin typeface="Calibri"/>
              </a:rPr>
              <a:t>Regulado (Ley 7/1996)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144" y="5632704"/>
            <a:ext cx="222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1EC"/>
                </a:solidFill>
                <a:latin typeface="Calibri"/>
              </a:rPr>
              <a:t>Ecuador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144" y="5833872"/>
            <a:ext cx="222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9B4C6"/>
                </a:solidFill>
                <a:latin typeface="Calibri"/>
              </a:rPr>
              <a:t>Código de Comercio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497" y="5632704"/>
            <a:ext cx="222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1EC"/>
                </a:solidFill>
                <a:latin typeface="Calibri"/>
              </a:rPr>
              <a:t>Colombia y Perú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497" y="5833872"/>
            <a:ext cx="2225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9B4C6"/>
                </a:solidFill>
                <a:latin typeface="Calibri"/>
              </a:rPr>
              <a:t>Contrato atípico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345936"/>
            <a:ext cx="627276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90">
                <a:solidFill>
                  <a:srgbClr val="8A94A6"/>
                </a:solidFill>
                <a:latin typeface="Calibri"/>
              </a:rPr>
              <a:t>CONTRATO DE FRANQUICIA · ACUERDOS COMERCIALES · GRUPO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889" y="6345936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6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1045460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90">
                <a:solidFill>
                  <a:srgbClr val="C56C3E"/>
                </a:solidFill>
                <a:latin typeface="Calibri"/>
              </a:rPr>
              <a:t>COMPONENTE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841248"/>
            <a:ext cx="89909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1B2A41"/>
                </a:solidFill>
                <a:latin typeface="Georgia"/>
              </a:rPr>
              <a:t>¿Cómo se aplica?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17904"/>
            <a:ext cx="658368" cy="32004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83636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45570"/>
                </a:solidFill>
                <a:latin typeface="Calibri"/>
              </a:rPr>
              <a:t>El ciclo que va del acuerdo entre dos partes a la operación cotidiana de una 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066543"/>
            <a:ext cx="1951933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066543"/>
            <a:ext cx="1951933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2322576"/>
            <a:ext cx="147644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C56C3E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2852928"/>
            <a:ext cx="147644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A41"/>
                </a:solidFill>
                <a:latin typeface="Georgia"/>
              </a:rPr>
              <a:t>Selección del franquiciado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456432"/>
            <a:ext cx="147644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La elección del inversionista adecuado es determinante para el éxito del sistema (Calderón-Monge et al., 2021).</a:t>
            </a:r>
          </a:p>
        </p:txBody>
      </p:sp>
      <p:sp>
        <p:nvSpPr>
          <p:cNvPr id="14" name="Oval 13"/>
          <p:cNvSpPr/>
          <p:nvPr/>
        </p:nvSpPr>
        <p:spPr>
          <a:xfrm>
            <a:off x="2870905" y="3493008"/>
            <a:ext cx="73152" cy="73152"/>
          </a:xfrm>
          <a:prstGeom prst="ellipse">
            <a:avLst/>
          </a:prstGeom>
          <a:solidFill>
            <a:srgbClr val="DDD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94349" y="2066543"/>
            <a:ext cx="1951933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94349" y="2066543"/>
            <a:ext cx="1951933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32093" y="2322576"/>
            <a:ext cx="147644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C56C3E"/>
                </a:solidFill>
                <a:latin typeface="Georgia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2093" y="2852928"/>
            <a:ext cx="147644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A41"/>
                </a:solidFill>
                <a:latin typeface="Georgia"/>
              </a:rPr>
              <a:t>Formalización del acuerdo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32093" y="3456432"/>
            <a:ext cx="147644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Se firma el contrato y quedan fijadas las condiciones económicas, operativas y legales de la relación.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4996574" y="3493008"/>
            <a:ext cx="73152" cy="73152"/>
          </a:xfrm>
          <a:prstGeom prst="ellipse">
            <a:avLst/>
          </a:prstGeom>
          <a:solidFill>
            <a:srgbClr val="DDD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018" y="2066543"/>
            <a:ext cx="1951933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20018" y="2066543"/>
            <a:ext cx="1951933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57762" y="2322576"/>
            <a:ext cx="147644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C56C3E"/>
                </a:solidFill>
                <a:latin typeface="Georg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7762" y="2852928"/>
            <a:ext cx="147644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A41"/>
                </a:solidFill>
                <a:latin typeface="Georgia"/>
              </a:rPr>
              <a:t>Transferencia y capacitación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57762" y="3456432"/>
            <a:ext cx="147644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Entrenamiento del propietario y del personal, manuales de operación, asesoría administrativa y apoyo en marketing.</a:t>
            </a:r>
          </a:p>
        </p:txBody>
      </p:sp>
      <p:sp>
        <p:nvSpPr>
          <p:cNvPr id="26" name="Oval 25"/>
          <p:cNvSpPr/>
          <p:nvPr/>
        </p:nvSpPr>
        <p:spPr>
          <a:xfrm>
            <a:off x="7122243" y="3493008"/>
            <a:ext cx="73152" cy="73152"/>
          </a:xfrm>
          <a:prstGeom prst="ellipse">
            <a:avLst/>
          </a:prstGeom>
          <a:solidFill>
            <a:srgbClr val="DDD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45687" y="2066543"/>
            <a:ext cx="1951933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45687" y="2066543"/>
            <a:ext cx="1951933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83431" y="2322576"/>
            <a:ext cx="147644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C56C3E"/>
                </a:solidFill>
                <a:latin typeface="Georgia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83431" y="2852928"/>
            <a:ext cx="147644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A41"/>
                </a:solidFill>
                <a:latin typeface="Georgia"/>
              </a:rPr>
              <a:t>Operación del establecimiento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3431" y="3456432"/>
            <a:ext cx="147644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El franquiciado administra su negocio, pero respetando los estándares definidos por el franquiciador.</a:t>
            </a:r>
          </a:p>
        </p:txBody>
      </p:sp>
      <p:sp>
        <p:nvSpPr>
          <p:cNvPr id="32" name="Oval 31"/>
          <p:cNvSpPr/>
          <p:nvPr/>
        </p:nvSpPr>
        <p:spPr>
          <a:xfrm>
            <a:off x="9247912" y="3493008"/>
            <a:ext cx="73152" cy="73152"/>
          </a:xfrm>
          <a:prstGeom prst="ellipse">
            <a:avLst/>
          </a:prstGeom>
          <a:solidFill>
            <a:srgbClr val="DDD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71356" y="2066543"/>
            <a:ext cx="1951933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71356" y="2066543"/>
            <a:ext cx="1951933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9100" y="2322576"/>
            <a:ext cx="147644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0" i="0">
                <a:solidFill>
                  <a:srgbClr val="C56C3E"/>
                </a:solidFill>
                <a:latin typeface="Georgia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9100" y="2852928"/>
            <a:ext cx="147644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A41"/>
                </a:solidFill>
                <a:latin typeface="Georgia"/>
              </a:rPr>
              <a:t>Seguimiento y supervisión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9100" y="3456432"/>
            <a:ext cx="147644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Control continuo para que todas las unidades sostengan los estándares que identifican a la marca.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4846320"/>
            <a:ext cx="5076428" cy="1170432"/>
          </a:xfrm>
          <a:prstGeom prst="rect">
            <a:avLst/>
          </a:prstGeom>
          <a:solidFill>
            <a:srgbClr val="F1EFEA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5010912"/>
            <a:ext cx="45643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56C3E"/>
                </a:solidFill>
                <a:latin typeface="Calibri"/>
              </a:rPr>
              <a:t>ANTES DE FIRMAR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" y="5230368"/>
            <a:ext cx="1737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C56C3E"/>
                </a:solidFill>
                <a:latin typeface="Georgia"/>
              </a:rPr>
              <a:t>20 días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" y="5632704"/>
            <a:ext cx="456436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hábiles de información previa obligatoria. Omitirla genera responsabilidad aunque no se firme.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6860" y="4846320"/>
            <a:ext cx="5076428" cy="1170432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46860" y="4846320"/>
            <a:ext cx="5076428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02892" y="5010912"/>
            <a:ext cx="45643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56C3E"/>
                </a:solidFill>
                <a:latin typeface="Calibri"/>
              </a:rPr>
              <a:t>LA FÓRMULA DEL MODELO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2892" y="5248656"/>
            <a:ext cx="4564364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F3F1EC"/>
                </a:solidFill>
                <a:latin typeface="Georgia"/>
              </a:rPr>
              <a:t>Independencia empresarial dentro de un marco de control: el franquiciado administra su negocio, pero no decide sobre todo.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345936"/>
            <a:ext cx="627276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90">
                <a:solidFill>
                  <a:srgbClr val="8A94A6"/>
                </a:solidFill>
                <a:latin typeface="Calibri"/>
              </a:rPr>
              <a:t>CONTRATO DE FRANQUICIA · ACUERDOS COMERCIALES · GRUPO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889" y="6345936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6"/>
                </a:solidFill>
                <a:latin typeface="Georgia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1045460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90">
                <a:solidFill>
                  <a:srgbClr val="C56C3E"/>
                </a:solidFill>
                <a:latin typeface="Calibri"/>
              </a:rPr>
              <a:t>COMPONENTE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841248"/>
            <a:ext cx="89909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1B2A41"/>
                </a:solidFill>
                <a:latin typeface="Georgia"/>
              </a:rPr>
              <a:t>Partes involucradas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17904"/>
            <a:ext cx="658368" cy="32004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83636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45570"/>
                </a:solidFill>
                <a:latin typeface="Calibri"/>
              </a:rPr>
              <a:t>Dos empresarios jurídicamente independientes que, sin embargo, se necesitan mutuamente.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956816"/>
            <a:ext cx="50764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956816"/>
            <a:ext cx="5076428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97864" y="2176272"/>
            <a:ext cx="44180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2A41"/>
                </a:solidFill>
                <a:latin typeface="Georgia"/>
              </a:rPr>
              <a:t>El franquiciador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7864" y="2487168"/>
            <a:ext cx="44180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 spc="110">
                <a:solidFill>
                  <a:srgbClr val="8A94A6"/>
                </a:solidFill>
                <a:latin typeface="Calibri"/>
              </a:rPr>
              <a:t>TAMBIÉN FRANQUICIANTE U OTORGANTE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2706624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C56C3E"/>
                </a:solidFill>
                <a:latin typeface="Calibri"/>
              </a:rPr>
              <a:t>QUÉ APORTA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2889504"/>
            <a:ext cx="44180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Marca y signos distintivos · know-how probado · manuales y asistencia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7864" y="3474720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C56C3E"/>
                </a:solidFill>
                <a:latin typeface="Calibri"/>
              </a:rPr>
              <a:t>SUS DERECHOS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7864" y="3657600"/>
            <a:ext cx="44180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Cobrar canon y regalías · exigir confidencialidad · exigir la estandarización de la 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7864" y="4242816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C56C3E"/>
                </a:solidFill>
                <a:latin typeface="Calibri"/>
              </a:rPr>
              <a:t>SUS OBLIGACIONES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7864" y="4425696"/>
            <a:ext cx="44180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Comunicar el know-how · prestar asistencia técnica · informar antes de contratar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6860" y="1956816"/>
            <a:ext cx="5076428" cy="3054096"/>
          </a:xfrm>
          <a:prstGeom prst="rect">
            <a:avLst/>
          </a:prstGeom>
          <a:solidFill>
            <a:srgbClr val="F1EFEA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6860" y="1956816"/>
            <a:ext cx="5076428" cy="41148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6044" y="2176272"/>
            <a:ext cx="44180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2A41"/>
                </a:solidFill>
                <a:latin typeface="Georgia"/>
              </a:rPr>
              <a:t>El franquiciado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6044" y="2487168"/>
            <a:ext cx="44180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 spc="110">
                <a:solidFill>
                  <a:srgbClr val="8A94A6"/>
                </a:solidFill>
                <a:latin typeface="Calibri"/>
              </a:rPr>
              <a:t>O FRANQUICIATARIO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6044" y="2706624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C56C3E"/>
                </a:solidFill>
                <a:latin typeface="Calibri"/>
              </a:rPr>
              <a:t>QUÉ APORTA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6044" y="2889504"/>
            <a:ext cx="44180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Canon e inversión inicial · regalías periódicas · gestión y conocimiento del mercado local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6044" y="3474720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C56C3E"/>
                </a:solidFill>
                <a:latin typeface="Calibri"/>
              </a:rPr>
              <a:t>SUS DERECHOS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6044" y="3657600"/>
            <a:ext cx="44180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Capacitación y asistencia · manual operativo completo · exclusividad territorial si se pactó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76044" y="4242816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C56C3E"/>
                </a:solidFill>
                <a:latin typeface="Calibri"/>
              </a:rPr>
              <a:t>SUS OBLIGACIONES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6044" y="4425696"/>
            <a:ext cx="44180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5570"/>
                </a:solidFill>
                <a:latin typeface="Calibri"/>
              </a:rPr>
              <a:t>Pagar canon y regalías · seguir el manual operativo · no competir con la 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5175504"/>
            <a:ext cx="10454609" cy="402336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9576" y="5175504"/>
            <a:ext cx="983281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B2A41"/>
                </a:solidFill>
                <a:latin typeface="Calibri"/>
              </a:rPr>
              <a:t>Y un tercero cuando la red se internacionaliza:  </a:t>
            </a:r>
            <a:r>
              <a:rPr sz="950" b="0" i="0">
                <a:solidFill>
                  <a:srgbClr val="445570"/>
                </a:solidFill>
                <a:latin typeface="Calibri"/>
              </a:rPr>
              <a:t>el subfranquiciante o máster franquiciado.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" y="5632704"/>
            <a:ext cx="10454609" cy="420624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9576" y="5632704"/>
            <a:ext cx="9832817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C56C3E"/>
                </a:solidFill>
                <a:latin typeface="Calibri"/>
              </a:rPr>
              <a:t>Independientes por ley (art. 1520 CCyC),  </a:t>
            </a:r>
            <a:r>
              <a:rPr sz="950" b="0" i="0">
                <a:solidFill>
                  <a:srgbClr val="F3F1EC"/>
                </a:solidFill>
                <a:latin typeface="Calibri"/>
              </a:rPr>
              <a:t>aunque la responsabilidad alcanza al franquiciador cuando el daño deriva de sus instrucciones concretas.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345936"/>
            <a:ext cx="627276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90">
                <a:solidFill>
                  <a:srgbClr val="8A94A6"/>
                </a:solidFill>
                <a:latin typeface="Calibri"/>
              </a:rPr>
              <a:t>CONTRATO DE FRANQUICIA · ACUERDOS COMERCIALES · GRUPO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889" y="6345936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6"/>
                </a:solidFill>
                <a:latin typeface="Georgia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1045460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90">
                <a:solidFill>
                  <a:srgbClr val="C56C3E"/>
                </a:solidFill>
                <a:latin typeface="Calibri"/>
              </a:rPr>
              <a:t>COMPONENTE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841248"/>
            <a:ext cx="89909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1B2A41"/>
                </a:solidFill>
                <a:latin typeface="Georgia"/>
              </a:rPr>
              <a:t>Principales ventajas y desventajas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17904"/>
            <a:ext cx="658368" cy="32004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83636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445570"/>
                </a:solidFill>
                <a:latin typeface="Calibri"/>
              </a:rPr>
              <a:t>Estandarizar es lo que crea el valor de la red y, a la vez, lo que restringe al franquiciado.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139696"/>
            <a:ext cx="5076428" cy="3877056"/>
          </a:xfrm>
          <a:prstGeom prst="rect">
            <a:avLst/>
          </a:prstGeom>
          <a:solidFill>
            <a:srgbClr val="FFFFFF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139696"/>
            <a:ext cx="5076428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97864" y="2377440"/>
            <a:ext cx="44180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2A41"/>
                </a:solidFill>
                <a:latin typeface="Georgia"/>
              </a:rPr>
              <a:t>Ventajas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7864" y="2761488"/>
            <a:ext cx="44180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1.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Reconocimiento de marca: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se parte de una marca ya posicionada en el mercado.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2.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Modelo validado: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negocio ya probado, sin la incertidumbre de empezar de cero.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3.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Menor riesgo: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más supervivencia que un negocio independiente equivalente.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4.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Capacitación y asistencia: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formación inicial y acompañamiento continuo de la marca.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5.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Apoyo en marketing: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las campañas y las redes se coordinan desde la marca.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6.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Economías de escala: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la red negocia como bloque y reduce costos de compra.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6860" y="2139696"/>
            <a:ext cx="5076428" cy="3877056"/>
          </a:xfrm>
          <a:prstGeom prst="rect">
            <a:avLst/>
          </a:prstGeom>
          <a:solidFill>
            <a:srgbClr val="F1EFEA"/>
          </a:solidFill>
          <a:ln w="9525">
            <a:solidFill>
              <a:srgbClr val="DDD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6860" y="2139696"/>
            <a:ext cx="5076428" cy="41148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6044" y="2377440"/>
            <a:ext cx="44180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B2A41"/>
                </a:solidFill>
                <a:latin typeface="Georgia"/>
              </a:rPr>
              <a:t>Desventajas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6044" y="2761488"/>
            <a:ext cx="44180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1.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Costos elevados: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inversión inicial alta más regalías y aportes de publicidad.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2.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Autonomía limitada: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manda el estándar del franquiciador, no el criterio propio.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3.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Regalías fijas: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se pagan aunque el negocio no dé las ganancias esperadas.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4.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Conflictos entre las partes: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por estrategias, proveedores o condiciones económicas.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5.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Cláusulas estrictas: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exclusividad, duración, renovación y límites operativos.</a:t>
            </a:r>
          </a:p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6. </a:t>
            </a:r>
            <a:r>
              <a:rPr sz="1050" b="1" i="0">
                <a:solidFill>
                  <a:srgbClr val="1B2A41"/>
                </a:solidFill>
                <a:latin typeface="Calibri"/>
              </a:rPr>
              <a:t>Reputación ajena: </a:t>
            </a:r>
            <a:r>
              <a:rPr sz="1050" b="0" i="0">
                <a:solidFill>
                  <a:srgbClr val="445570"/>
                </a:solidFill>
                <a:latin typeface="Calibri"/>
              </a:rPr>
              <a:t>un golpe a la imagen de la marca afecta a toda la 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345936"/>
            <a:ext cx="627276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90">
                <a:solidFill>
                  <a:srgbClr val="A9B4C6"/>
                </a:solidFill>
                <a:latin typeface="Calibri"/>
              </a:rPr>
              <a:t>CONTRATO DE FRANQUICIA · ACUERDOS COMERCIALES · GRUPO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889" y="6345936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9B4C6"/>
                </a:solidFill>
                <a:latin typeface="Georgia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1045460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90">
                <a:solidFill>
                  <a:srgbClr val="C56C3E"/>
                </a:solidFill>
                <a:latin typeface="Calibri"/>
              </a:rPr>
              <a:t>COMPONENTE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841248"/>
            <a:ext cx="89909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F3F1EC"/>
                </a:solidFill>
                <a:latin typeface="Georgia"/>
              </a:rPr>
              <a:t>Video entrevista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17904"/>
            <a:ext cx="658368" cy="32004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00784"/>
            <a:ext cx="83636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A9B4C6"/>
                </a:solidFill>
                <a:latin typeface="Calibri"/>
              </a:rPr>
              <a:t>Entrevista sobre las claves del éxito del Grupo David en la expansión de franquicias.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103120"/>
            <a:ext cx="5076428" cy="1920240"/>
          </a:xfrm>
          <a:prstGeom prst="rect">
            <a:avLst/>
          </a:prstGeom>
          <a:solidFill>
            <a:srgbClr val="22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2103120"/>
            <a:ext cx="5076428" cy="41148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97864" y="2322576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56C3E"/>
                </a:solidFill>
                <a:latin typeface="Calibri"/>
              </a:rPr>
              <a:t>INVITADO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7864" y="2578608"/>
            <a:ext cx="44180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3F1EC"/>
                </a:solidFill>
                <a:latin typeface="Georgia"/>
              </a:rPr>
              <a:t>Gerardo Marcano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2962656"/>
            <a:ext cx="44180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56C3E"/>
                </a:solidFill>
                <a:latin typeface="Calibri"/>
              </a:rPr>
              <a:t>Vicepresidente de operaciones · Grupo David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" y="3236976"/>
            <a:ext cx="44180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9B4C6"/>
                </a:solidFill>
                <a:latin typeface="Calibri"/>
              </a:rPr>
              <a:t>Veinte años en la organización. Pasó por gerencia de tiendas, operaciones y dirección de retail.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6860" y="2103120"/>
            <a:ext cx="5076428" cy="1920240"/>
          </a:xfrm>
          <a:prstGeom prst="rect">
            <a:avLst/>
          </a:prstGeom>
          <a:solidFill>
            <a:srgbClr val="22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6860" y="2103120"/>
            <a:ext cx="5076428" cy="41148"/>
          </a:xfrm>
          <a:prstGeom prst="rect">
            <a:avLst/>
          </a:prstGeom>
          <a:solidFill>
            <a:srgbClr val="2C3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6044" y="2322576"/>
            <a:ext cx="44180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50">
                <a:solidFill>
                  <a:srgbClr val="C56C3E"/>
                </a:solidFill>
                <a:latin typeface="Calibri"/>
              </a:rPr>
              <a:t>ESCALA DE LA OPERACIÓN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6044" y="2615184"/>
            <a:ext cx="209930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3F1EC"/>
                </a:solidFill>
                <a:latin typeface="Georgia"/>
              </a:rPr>
              <a:t>23+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6044" y="2926079"/>
            <a:ext cx="209930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90">
                <a:solidFill>
                  <a:srgbClr val="A9B4C6"/>
                </a:solidFill>
                <a:latin typeface="Calibri"/>
              </a:rPr>
              <a:t>MARCAS OPERADAS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4803" y="2615184"/>
            <a:ext cx="209930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3F1EC"/>
                </a:solidFill>
                <a:latin typeface="Georgia"/>
              </a:rPr>
              <a:t>350+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4803" y="2926079"/>
            <a:ext cx="209930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90">
                <a:solidFill>
                  <a:srgbClr val="A9B4C6"/>
                </a:solidFill>
                <a:latin typeface="Calibri"/>
              </a:rPr>
              <a:t>TIENDAS EN LA REGIÓN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6044" y="3328415"/>
            <a:ext cx="209930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3F1EC"/>
                </a:solidFill>
                <a:latin typeface="Georgia"/>
              </a:rPr>
              <a:t>40+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6044" y="3639311"/>
            <a:ext cx="209930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90">
                <a:solidFill>
                  <a:srgbClr val="A9B4C6"/>
                </a:solidFill>
                <a:latin typeface="Calibri"/>
              </a:rPr>
              <a:t>FRANQUICIAS GESTIONADAS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94803" y="3328415"/>
            <a:ext cx="209930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3F1EC"/>
                </a:solidFill>
                <a:latin typeface="Georgia"/>
              </a:rPr>
              <a:t>20+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4803" y="3639311"/>
            <a:ext cx="209930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90">
                <a:solidFill>
                  <a:srgbClr val="A9B4C6"/>
                </a:solidFill>
                <a:latin typeface="Calibri"/>
              </a:rPr>
              <a:t>PLATAFORMAS DE E-COMMERCE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279392"/>
            <a:ext cx="1045460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C56C3E"/>
                </a:solidFill>
                <a:latin typeface="Calibri"/>
              </a:rPr>
              <a:t>QUÉ OBSERVAR MIENTRAS VEMOS EL VIDEO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572000"/>
            <a:ext cx="3326373" cy="1078992"/>
          </a:xfrm>
          <a:prstGeom prst="rect">
            <a:avLst/>
          </a:prstGeom>
          <a:solidFill>
            <a:srgbClr val="22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8680" y="4572000"/>
            <a:ext cx="41148" cy="1078992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4773168"/>
            <a:ext cx="27777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6C3E"/>
                </a:solidFill>
                <a:latin typeface="Georgia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065776"/>
            <a:ext cx="277773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3F1EC"/>
                </a:solidFill>
                <a:latin typeface="Calibri"/>
              </a:rPr>
              <a:t>Cómo el reconocimiento de marca decide si una apertura se hace o no.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2797" y="4572000"/>
            <a:ext cx="3326373" cy="1078992"/>
          </a:xfrm>
          <a:prstGeom prst="rect">
            <a:avLst/>
          </a:prstGeom>
          <a:solidFill>
            <a:srgbClr val="22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32797" y="4572000"/>
            <a:ext cx="41148" cy="1078992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7117" y="4773168"/>
            <a:ext cx="27777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6C3E"/>
                </a:solidFill>
                <a:latin typeface="Georgia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7117" y="5065776"/>
            <a:ext cx="277773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3F1EC"/>
                </a:solidFill>
                <a:latin typeface="Calibri"/>
              </a:rPr>
              <a:t>Hasta dónde puede adaptarse el modelo sin romper el estándar: la tropicalización.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96915" y="4572000"/>
            <a:ext cx="3326373" cy="1078992"/>
          </a:xfrm>
          <a:prstGeom prst="rect">
            <a:avLst/>
          </a:prstGeom>
          <a:solidFill>
            <a:srgbClr val="22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96915" y="4572000"/>
            <a:ext cx="41148" cy="1078992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1235" y="4773168"/>
            <a:ext cx="277773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6C3E"/>
                </a:solidFill>
                <a:latin typeface="Georgia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1235" y="5065776"/>
            <a:ext cx="277773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3F1EC"/>
                </a:solidFill>
                <a:latin typeface="Calibri"/>
              </a:rPr>
              <a:t>El manual operativo en la práctica: marco flexible o camisa de fuerza.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797296"/>
            <a:ext cx="1045460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A9B4C6"/>
                </a:solidFill>
                <a:latin typeface="Calibri"/>
              </a:rPr>
              <a:t>Ejes de la conversación: estrategias de expansión · innovación y omnicanalidad · cultura de replicación operativa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345936"/>
            <a:ext cx="627276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90">
                <a:solidFill>
                  <a:srgbClr val="8A94A6"/>
                </a:solidFill>
                <a:latin typeface="Calibri"/>
              </a:rPr>
              <a:t>CONTRATO DE FRANQUICIA · ACUERDOS COMERCIALES · GRUPO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08889" y="6345936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A94A6"/>
                </a:solidFill>
                <a:latin typeface="Georgia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48640"/>
            <a:ext cx="1045460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90">
                <a:solidFill>
                  <a:srgbClr val="C56C3E"/>
                </a:solidFill>
                <a:latin typeface="Calibri"/>
              </a:rPr>
              <a:t>REFERENCIAS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841248"/>
            <a:ext cx="89909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0" i="0">
                <a:solidFill>
                  <a:srgbClr val="1B2A41"/>
                </a:solidFill>
                <a:latin typeface="Georgia"/>
              </a:rPr>
              <a:t>Bibliografía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517904"/>
            <a:ext cx="658368" cy="32004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Apolo Apolo, B. V., Reinoso Galarza, B. A., y Cando Pacheco, J. de J. (2022).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Análisis crítico del contrato de franquicia en la legislación ecuatoriana, especial referencia a la responsabilidad del franquiciado. RECIMUNDO, 6(3), 459–474.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Calderón-Monge, E., Pastor-Sanz, I., y Sendra-García, J. (2021).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How to select franchisees: A model proposal. Journal of Business Research, 135, 676–684.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45536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Candela, P. (2023, 1 de febrero).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Good papers: La extensión de responsabilidad al franquiciador por los actos del franquiciatario. Almacén de Derecho.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12464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Conde Gómez, G. (2020).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El contrato de franquicia en la Propuesta de Anteproyecto de Ley de Código Mercantil tras el Dictamen del Consejo de Estado. Revista de Derecho UNED, (26), 77–103.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79392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Congreso de la Nación Argentina. (2014).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Ley 26.994: Código Civil y Comercial de la Nación, arts. 1512–1524, Contrato de franquicia.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EAE Business School. (2025).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Ventajas e inconvenientes del contrato de franquicia.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413248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Federal Trade Commission. (2020).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A consumer's guide to buying a franchise.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584" y="2011680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Franchise Business Review. (2025).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What are the advantages and disadvantages of franchising?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584" y="2578608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Kim, S. K., y Tiwana, A. (2022).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Franchising contracts as routines: Untangling the adaptive value of incomplete contracts. Journal of Business Research, 152, 177–190.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4584" y="3145536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Loaiza, L. M. (2012).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Panorama del contrato de franquicia en Colombia: entre las estipulaciones contractuales, el Código de Ética y la Norma Técnica [proyecto de grado, Universidad Icesi].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584" y="3712464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Ministerio de Comercio, Industria y Turismo. (2021).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Proyecto de decreto sobre las franquicias como alternativa para el emprendimiento y la expansión de las mipymes [no expedido].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584" y="4279392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NerdWallet. (2025).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Franchising: Advantages, disadvantages and how to buy a franchise.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584" y="4846320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Speicher Mendiola, C. G. (2024).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La tipificación del contrato de franquicia como alternativa para impulsar el desarrollo de las empresas peruanas en el mercado local. Ius et Praxis, (58), 23–39.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584" y="5413248"/>
            <a:ext cx="499870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B2A41"/>
                </a:solidFill>
                <a:latin typeface="Calibri"/>
              </a:rPr>
              <a:t>Superintendencia de Industria y Comercio. (2010). </a:t>
            </a:r>
            <a:r>
              <a:rPr sz="850" b="0" i="0">
                <a:solidFill>
                  <a:srgbClr val="445570"/>
                </a:solidFill>
                <a:latin typeface="Calibri"/>
              </a:rPr>
              <a:t>Concepto sobre el contrato de franquicia [citado en Loaiza, 2012].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016752"/>
            <a:ext cx="1045460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8A94A6"/>
                </a:solidFill>
                <a:latin typeface="Calibri"/>
              </a:rPr>
              <a:t>Referencias en formato APA 7.ª edición.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2011680"/>
            <a:ext cx="2926080" cy="2926080"/>
          </a:xfrm>
          <a:prstGeom prst="ellipse">
            <a:avLst/>
          </a:prstGeom>
          <a:noFill/>
          <a:ln w="13970">
            <a:solidFill>
              <a:srgbClr val="2C3E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89720" y="4279392"/>
            <a:ext cx="566928" cy="566928"/>
          </a:xfrm>
          <a:prstGeom prst="ellipse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12848"/>
            <a:ext cx="6583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C56C3E"/>
                </a:solidFill>
                <a:latin typeface="Calibri"/>
              </a:rPr>
              <a:t>CONTRATO DE FRANQUICIA · ACUERDOS COMERCIALES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6032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0" i="0">
                <a:solidFill>
                  <a:srgbClr val="F3F1EC"/>
                </a:solidFill>
                <a:latin typeface="Georgia"/>
              </a:rPr>
              <a:t>Gracias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547872"/>
            <a:ext cx="822960" cy="32004"/>
          </a:xfrm>
          <a:prstGeom prst="rect">
            <a:avLst/>
          </a:prstGeom>
          <a:solidFill>
            <a:srgbClr val="C56C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803904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A9B4C6"/>
                </a:solidFill>
                <a:latin typeface="Calibri"/>
              </a:rPr>
              <a:t>Quedamos atentos a sus preguntas y comentarios.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773168"/>
            <a:ext cx="5852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C56C3E"/>
                </a:solidFill>
                <a:latin typeface="Calibri"/>
              </a:rPr>
              <a:t>GRUPO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47488"/>
            <a:ext cx="5852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F3F1EC"/>
                </a:solidFill>
                <a:latin typeface="Calibri"/>
              </a:rPr>
              <a:t>María Isabel Acosta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F3F1EC"/>
                </a:solidFill>
                <a:latin typeface="Calibri"/>
              </a:rPr>
              <a:t>Xilena Blanco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F3F1EC"/>
                </a:solidFill>
                <a:latin typeface="Calibri"/>
              </a:rPr>
              <a:t>María Daniela García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F3F1EC"/>
                </a:solidFill>
                <a:latin typeface="Calibri"/>
              </a:rPr>
              <a:t>Fredy Valladares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